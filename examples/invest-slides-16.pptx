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들어가며" id="{72d9deec-1b23-88fc-89a6-ea8795ebef45}">
          <p14:sldIdLst>
            <p14:sldId id="256"/>
            <p14:sldId id="257"/>
          </p14:sldIdLst>
        </p14:section>
        <p14:section name="가. 늘어난 수명" id="{2fab4d83-e816-0b92-5c01-ca53584d2ad6}">
          <p14:sldIdLst>
            <p14:sldId id="258"/>
            <p14:sldId id="259"/>
            <p14:sldId id="260"/>
            <p14:sldId id="261"/>
            <p14:sldId id="262"/>
            <p14:sldId id="263"/>
            <p14:sldId id="264"/>
            <p14:sldId id="265"/>
            <p14:sldId id="266"/>
          </p14:sldIdLst>
        </p14:section>
        <p14:section name="나. 인플레이션" id="{5814da21-67e1-e766-88e1-6b4e41e7b41d}">
          <p14:sldIdLst>
            <p14:sldId id="267"/>
            <p14:sldId id="268"/>
            <p14:sldId id="269"/>
            <p14:sldId id="270"/>
          </p14:sldIdLst>
        </p14:section>
        <p14:section name="마무리" id="{02fd6501-288e-4c47-b23f-fca4e61624d0}">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평균수명</c:v>
                </c:pt>
              </c:strCache>
            </c:strRef>
          </c:tx>
          <c:spPr>
            <a:solidFill>
              <a:srgbClr val="A3A9B4"/>
            </a:solidFill>
            <a:effectLst/>
          </c:spPr>
          <c:invertIfNegative val="0"/>
          <c:dLbls>
            <c:numFmt formatCode="General&quot;세&quot;" sourceLinked="0"/>
            <c:txPr>
              <a:bodyPr wrap="none"/>
              <a:lstStyle/>
              <a:p>
                <a:pPr>
                  <a:defRPr b="1" i="0" strike="noStrike" sz="3000" u="none">
                    <a:solidFill>
                      <a:srgbClr val="1E2228"/>
                    </a:solidFill>
                    <a:latin typeface="+mn-lt"/>
                  </a:defRPr>
                </a:pPr>
              </a:p>
            </c:txPr>
            <c:showLegendKey val="0"/>
            <c:showVal val="1"/>
            <c:showCatName val="0"/>
            <c:showSerName val="0"/>
            <c:showPercent val="0"/>
            <c:showBubbleSize val="0"/>
            <c:showLeaderLines val="0"/>
          </c:dLbls>
          <c:dPt>
            <c:idx val="0"/>
            <c:invertIfNegative val="0"/>
            <c:bubble3D val="0"/>
            <c:spPr>
              <a:solidFill>
                <a:srgbClr val="A3A9B4"/>
              </a:solidFill>
              <a:effectLst/>
            </c:spPr>
          </c:dPt>
          <c:dPt>
            <c:idx val="1"/>
            <c:invertIfNegative val="0"/>
            <c:bubble3D val="0"/>
            <c:spPr>
              <a:solidFill>
                <a:srgbClr val="3A4150"/>
              </a:solidFill>
              <a:effectLst/>
            </c:spPr>
          </c:dPt>
          <c:dPt>
            <c:idx val="2"/>
            <c:invertIfNegative val="0"/>
            <c:bubble3D val="0"/>
            <c:spPr>
              <a:solidFill>
                <a:srgbClr val="F2B33D"/>
              </a:solidFill>
              <a:effectLst/>
            </c:spPr>
          </c:dPt>
          <c:cat>
            <c:multiLvlStrRef>
              <c:f>Sheet1!$A$2:$A$4</c:f>
              <c:multiLvlStrCache>
                <c:ptCount val="3"/>
                <c:lvl>
                  <c:pt idx="0">
                    <c:v>1940년대</c:v>
                  </c:pt>
                  <c:pt idx="1">
                    <c:v>2024년 남성</c:v>
                  </c:pt>
                  <c:pt idx="2">
                    <c:v>2024년 여성</c:v>
                  </c:pt>
                </c:lvl>
              </c:multiLvlStrCache>
            </c:multiLvlStrRef>
          </c:cat>
          <c:val>
            <c:numRef>
              <c:f>Sheet1!$B$2:$B$4</c:f>
              <c:numCache>
                <c:formatCode>General</c:formatCode>
                <c:ptCount val="3"/>
                <c:pt idx="0">
                  <c:v>40</c:v>
                </c:pt>
                <c:pt idx="1">
                  <c:v>86.3</c:v>
                </c:pt>
                <c:pt idx="2">
                  <c:v>90.7</c:v>
                </c:pt>
              </c:numCache>
            </c:numRef>
          </c:val>
        </c:ser>
        <c:dLbls>
          <c:numFmt formatCode="General&quot;세&quot;" sourceLinked="0"/>
          <c:txPr>
            <a:bodyPr wrap="none"/>
            <a:lstStyle/>
            <a:p>
              <a:pPr>
                <a:defRPr b="1" i="0" strike="noStrike" sz="3000" u="none">
                  <a:solidFill>
                    <a:srgbClr val="1E2228"/>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2200" b="0" i="0" u="none" strike="noStrike">
                <a:solidFill>
                  <a:srgbClr val="1E2228"/>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매달 저축액</c:v>
                </c:pt>
              </c:strCache>
            </c:strRef>
          </c:tx>
          <c:spPr>
            <a:solidFill>
              <a:srgbClr val="F2B33D"/>
            </a:solidFill>
            <a:effectLst/>
          </c:spPr>
          <c:invertIfNegative val="0"/>
          <c:dLbls>
            <c:numFmt formatCode="&quot;월 &quot;#,##0&quot;만 원&quot;" sourceLinked="0"/>
            <c:txPr>
              <a:bodyPr wrap="none"/>
              <a:lstStyle/>
              <a:p>
                <a:pPr>
                  <a:defRPr b="1" i="0" strike="noStrike" sz="3000" u="none">
                    <a:solidFill>
                      <a:srgbClr val="1E2228"/>
                    </a:solidFill>
                    <a:latin typeface="+mn-lt"/>
                  </a:defRPr>
                </a:pPr>
              </a:p>
            </c:txPr>
            <c:showLegendKey val="0"/>
            <c:showVal val="1"/>
            <c:showCatName val="0"/>
            <c:showSerName val="0"/>
            <c:showPercent val="0"/>
            <c:showBubbleSize val="0"/>
            <c:showLeaderLines val="0"/>
          </c:dLbls>
          <c:dPt>
            <c:idx val="0"/>
            <c:invertIfNegative val="0"/>
            <c:bubble3D val="0"/>
            <c:spPr>
              <a:solidFill>
                <a:srgbClr val="F2B33D"/>
              </a:solidFill>
              <a:effectLst/>
            </c:spPr>
          </c:dPt>
          <c:dPt>
            <c:idx val="1"/>
            <c:invertIfNegative val="0"/>
            <c:bubble3D val="0"/>
            <c:spPr>
              <a:solidFill>
                <a:srgbClr val="D64933"/>
              </a:solidFill>
              <a:effectLst/>
            </c:spPr>
          </c:dPt>
          <c:cat>
            <c:multiLvlStrRef>
              <c:f>Sheet1!$A$2:$A$3</c:f>
              <c:multiLvlStrCache>
                <c:ptCount val="2"/>
                <c:lvl>
                  <c:pt idx="0">
                    <c:v>투자 연 8%</c:v>
                  </c:pt>
                  <c:pt idx="1">
                    <c:v>예금 연 3%</c:v>
                  </c:pt>
                </c:lvl>
              </c:multiLvlStrCache>
            </c:multiLvlStrRef>
          </c:cat>
          <c:val>
            <c:numRef>
              <c:f>Sheet1!$B$2:$B$3</c:f>
              <c:numCache>
                <c:formatCode>General</c:formatCode>
                <c:ptCount val="2"/>
                <c:pt idx="0">
                  <c:v>36</c:v>
                </c:pt>
                <c:pt idx="1">
                  <c:v>275</c:v>
                </c:pt>
              </c:numCache>
            </c:numRef>
          </c:val>
        </c:ser>
        <c:dLbls>
          <c:numFmt formatCode="&quot;월 &quot;#,##0&quot;만 원&quot;" sourceLinked="0"/>
          <c:txPr>
            <a:bodyPr wrap="none"/>
            <a:lstStyle/>
            <a:p>
              <a:pPr>
                <a:defRPr b="1" i="0" strike="noStrike" sz="3000" u="none">
                  <a:solidFill>
                    <a:srgbClr val="1E22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2400" b="1" i="0" u="none" strike="noStrike">
                <a:solidFill>
                  <a:srgbClr val="1E2228"/>
                </a:solidFill>
                <a:latin typeface="+mn-lt"/>
              </a:defRPr>
            </a:pPr>
            <a:endParaRPr lang="en-US"/>
          </a:p>
        </c:txPr>
        <c:crossAx val="2094734552"/>
        <c:crosses val="autoZero"/>
        <c:auto val="1"/>
        <c:lblAlgn val="ctr"/>
        <c:noMultiLvlLbl val="1"/>
      </c:catAx>
      <c:valAx>
        <c:axId val="2094734552"/>
        <c:scaling>
          <c:orientation val="minMax"/>
          <c:max val="4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2000년</c:v>
                </c:pt>
              </c:strCache>
            </c:strRef>
          </c:tx>
          <c:spPr>
            <a:solidFill>
              <a:srgbClr val="A3A9B4"/>
            </a:solidFill>
            <a:effectLst/>
          </c:spPr>
          <c:invertIfNegative val="0"/>
          <c:dLbls>
            <c:numFmt formatCode="#,##0&quot;원&quot;" sourceLinked="0"/>
            <c:txPr>
              <a:bodyPr wrap="none"/>
              <a:lstStyle/>
              <a:p>
                <a:pPr>
                  <a:defRPr b="1" i="0" strike="noStrike" sz="2400" u="none">
                    <a:solidFill>
                      <a:srgbClr val="1E2228"/>
                    </a:solidFill>
                    <a:latin typeface="+mn-lt"/>
                  </a:defRPr>
                </a:pPr>
              </a:p>
            </c:txPr>
            <c:showLegendKey val="0"/>
            <c:showVal val="1"/>
            <c:showCatName val="0"/>
            <c:showSerName val="0"/>
            <c:showPercent val="0"/>
            <c:showBubbleSize val="0"/>
            <c:showLeaderLines val="0"/>
          </c:dLbls>
          <c:cat>
            <c:multiLvlStrRef>
              <c:f>Sheet1!$A$2:$A$3</c:f>
              <c:multiLvlStrCache>
                <c:ptCount val="2"/>
                <c:lvl>
                  <c:pt idx="0">
                    <c:v>짜장면</c:v>
                  </c:pt>
                  <c:pt idx="1">
                    <c:v>설렁탕</c:v>
                  </c:pt>
                </c:lvl>
              </c:multiLvlStrCache>
            </c:multiLvlStrRef>
          </c:cat>
          <c:val>
            <c:numRef>
              <c:f>Sheet1!$B$2:$B$3</c:f>
              <c:numCache>
                <c:formatCode>General</c:formatCode>
                <c:ptCount val="2"/>
                <c:pt idx="0">
                  <c:v>2742</c:v>
                </c:pt>
                <c:pt idx="1">
                  <c:v>4217</c:v>
                </c:pt>
              </c:numCache>
            </c:numRef>
          </c:val>
        </c:ser>
        <c:ser>
          <c:idx val="1"/>
          <c:order val="1"/>
          <c:tx>
            <c:strRef>
              <c:f>Sheet1!$C$1</c:f>
              <c:strCache>
                <c:ptCount val="1"/>
                <c:pt idx="0">
                  <c:v>2022년</c:v>
                </c:pt>
              </c:strCache>
            </c:strRef>
          </c:tx>
          <c:spPr>
            <a:solidFill>
              <a:srgbClr val="F2B33D"/>
            </a:solidFill>
            <a:effectLst/>
          </c:spPr>
          <c:invertIfNegative val="0"/>
          <c:dLbls>
            <c:numFmt formatCode="#,##0&quot;원&quot;" sourceLinked="0"/>
            <c:txPr>
              <a:bodyPr wrap="none"/>
              <a:lstStyle/>
              <a:p>
                <a:pPr>
                  <a:defRPr b="1" i="0" strike="noStrike" sz="2400" u="none">
                    <a:solidFill>
                      <a:srgbClr val="1E2228"/>
                    </a:solidFill>
                    <a:latin typeface="+mn-lt"/>
                  </a:defRPr>
                </a:pPr>
              </a:p>
            </c:txPr>
            <c:showLegendKey val="0"/>
            <c:showVal val="1"/>
            <c:showCatName val="0"/>
            <c:showSerName val="0"/>
            <c:showPercent val="0"/>
            <c:showBubbleSize val="0"/>
            <c:showLeaderLines val="0"/>
          </c:dLbls>
          <c:cat>
            <c:multiLvlStrRef>
              <c:f>Sheet1!$A$2:$A$3</c:f>
              <c:multiLvlStrCache>
                <c:ptCount val="2"/>
                <c:lvl>
                  <c:pt idx="0">
                    <c:v>짜장면</c:v>
                  </c:pt>
                  <c:pt idx="1">
                    <c:v>설렁탕</c:v>
                  </c:pt>
                </c:lvl>
              </c:multiLvlStrCache>
            </c:multiLvlStrRef>
          </c:cat>
          <c:val>
            <c:numRef>
              <c:f>Sheet1!$C$2:$C$3</c:f>
              <c:numCache>
                <c:formatCode>General</c:formatCode>
                <c:ptCount val="2"/>
                <c:pt idx="0">
                  <c:v>5769</c:v>
                </c:pt>
                <c:pt idx="1">
                  <c:v>9000</c:v>
                </c:pt>
              </c:numCache>
            </c:numRef>
          </c:val>
        </c:ser>
        <c:dLbls>
          <c:numFmt formatCode="#,##0&quot;원&quot;" sourceLinked="0"/>
          <c:txPr>
            <a:bodyPr wrap="none"/>
            <a:lstStyle/>
            <a:p>
              <a:pPr>
                <a:defRPr b="1" i="0" strike="noStrike" sz="2400" u="none">
                  <a:solidFill>
                    <a:srgbClr val="1E2228"/>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2400" b="1" i="0" u="none" strike="noStrike">
                <a:solidFill>
                  <a:srgbClr val="1E2228"/>
                </a:solidFill>
                <a:latin typeface="+mn-lt"/>
              </a:defRPr>
            </a:pPr>
            <a:endParaRPr lang="en-US"/>
          </a:p>
        </c:txPr>
        <c:crossAx val="2094734552"/>
        <c:crosses val="autoZero"/>
        <c:auto val="1"/>
        <c:lblAlgn val="ctr"/>
        <c:noMultiLvlLbl val="1"/>
      </c:catAx>
      <c:valAx>
        <c:axId val="2094734552"/>
        <c:scaling>
          <c:orientation val="minMax"/>
          <c:max val="105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2000">
              <a:solidFill>
                <a:srgbClr val="1E222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오늘은 제가 쓴 글 「투자를 합시다」 1편, 투자를 해야 하는 이유를 나눠 보겠습니다. 이유는 크게 두 가지, 늘어난 수명과 인플레이션입니다.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저도 처음에는 투자 이야기를 한 귀로 듣고 한 귀로 흘렸습니다. 이미 건물주였던 선배가 몇 시간씩, 몇 년 동안 이야기해 주었지만 저는 움직이지 않았습니다. 여러분도 관심은 있어도 막상 들으면 그런가 보다 하고 넘기실지 모릅니다. 저는 2019년, 살 집을 마련하려고 분양권을 사면서 시작했고, 부동산, 주식, 경매로 이어졌습니다. 선배와 함께 투자한 동료들과 나눈 이야기가 큰 밑거름이 되었습니다. 아직 목표를 이루지는 못했지만 가까운 미래에 이룰 거라는 확신이 있습니다. 그래서 저도 누군가의 밑거름이 되고 싶습니다. 한 분이라도 그렇게 된다면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이유는 늘어난 수명입니다. 1940년대까지만 해도 평균수명은 40세였습니다. 저는 어릴 때 할아버지 환갑잔치를 또렷이 기억하는데, 지금 환갑잔치를 하는 분이 있다면 어떨까요? 보험개발원이 2024년에 발표한 자료를 보면, 생명보험 가입자의 평균수명은 여성이 90.7세로 처음 90세를 넘었고, 남성은 86.3세입니다. 5년 전보다 각각 2.2세, 2.8세 늘었습니다. 그런데 트러스톤자산운용 연금포럼의 강창희 대표는 노후를 망치는 세 가지 착각 가운데 하나로, 사람들이 80세 이후의 삶을 생각하지 않는 것을 꼽았습니다.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앞으로는 더 늘어납니다. 미국 조지아대 데이비드 매카시 교수 연구팀은 19개 나라의 연령별 사망률을 분석해, 일본의 기대수명을 남성 115세, 여성 120세로 예측했습니다. 최고령 사망자는 남성 130세, 여성 135세쯤으로 봤습니다. 남캘리포니아 의대 윌리엄 슈워츠 박사는 『질병 없는 삶』에서 평균수명이 120세로 늘어난다고 했고, 국회미래연구원은 150세까지 늘어난다고 내다봤습니다. 모든 연구가 우리가 세상을 떠날 즈음의 평균수명을 최소 115세 이상으로 봅니다. 할아버지, 아버지 세대의 경험과 지혜가 우리 미래에는 맞지 않는다는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보수적으로 120세까지 산다고 가정해 보겠습니다. 그러면 30세는 청소년, 60세는 청년, 80세는 장년쯤 됩니다. 100세는 넘어야 노인 소리를 듣겠지요. 하지만 우리 사회는 아직 평균수명 120세에 맞춰져 있지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교사인 제 경우를 예로 들어 보겠습니다. 30세까지 공부하고 임용을 준비하고, 30세부터 65세까지 학교에서 일합니다. 정년이 65세로 늘어난다고 가정한 것입니다. 그리고 120세쯤 세상을 떠납니다. 그러면 65세부터 120세까지 55년을, 일하는 35년 동안 번 돈으로 살아야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실제로는 정년 전에 명예퇴직하는 경우도 많습니다. 그 나이가 되면 고민도 많아지고 돈 들어갈 곳도 더 많아져서, 퇴직한 뒤에도 이곳저곳에서 일하게 됩니다. OECD 2018년 자료를 보면 우리나라의 실제 은퇴 나이는 72.3세입니다. 우리나라 노인 자살률은 OECD 국가 가운데 1위이고, 노인 빈곤율도 가장 높은 수준입니다. 가장 큰 이유는 경제적인 어려움입니다. 국가 대책도 필요하겠지만 저는 기대하지 않습니다. 결국 누구나 노인이 되고, 노후의 현금흐름을 미리 생각하지 않으면 큰 어려움을 겪게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퇴직 뒤의 현금흐름을 생각해 보겠습니다. 예를 들어 50세에 명예퇴직하고 연금이 65세부터 나온다면, 그 사이 15년 동안 현금흐름은 0원입니다. 연금을 받기 시작해도 연금이 생활비에 못 미치면 65세 이후의 생활도 궁핍해지고, 이런 상황이 120세까지 이어집니다. 결론은 간단합니다. 지금부터 퇴직 전까지 충분히 모아서, 퇴직한 뒤에 쓸 수 있어야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얼마나 모아야 할까요? 제가 생각하는 가장 알맞은 방법은 이렇습니다. 먼저 물가 상승을 고려해, 지금 가치로 1년에 필요한 생활비를 계산합니다. 이것이 A입니다. 다음으로 퇴직할 때까지 모은 돈으로 계속 투자해서 1년에 거둘 수 있는 수익을 계산합니다. 이것이 B입니다. B가 커져서 A와 같아지는 때가, 노후를 위해 충분히 모은 때라고 생각합니다. 물론 더 많으면 더 좋겠지요.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예를 들어 계산해 보겠습니다. 한 달 생활비가 500만 원 필요하다면, A는 1년에 6,000만 원입니다. 투자 수익률을 연 8%로 가정하면, 6,000만 원을 0.08로 나눈 7억 5천만 원을 모으면 됩니다. 참고로 10억 원을 모으면 연 8%로 1년에 8,000만 원, 한 달에 약 666만 원을 벌 수 있습니다. 반대로 투자 없이 예금만 한다면 어떨까요? 2024년 6월 24일 기준 한국은행 기준금리는 3.5%인데, 앞으로 금리는 오르기보다 내릴 가능성이 높으니 3%로 잡아 보겠습니다. 그러면 6,000만 원을 0.03으로 나눈 20억 원이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그러면 30세부터 65세까지 35년 동안, 지금 가진 돈 없이 모은다면 매달 얼마씩 저축해야 할까요? 낙원계산기로 계산하면, 연 8% 수익률일 때 1년에 435만 원, 한 달에 36만 원 정도만 모으면 됩니다. 생각보다 적지요. 이것이 아인슈타인이 불가사의라고 했다는 복리의 효과입니다. 하지만 연 3% 예금이라면 1년에 3,310만 원, 한 달에 275만 원을 모아야 합니다. 물려받을 재산이 많지 않다면, 평범한 월급으로는 사실상 불가능한 금액입니다.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이유는 인플레이션입니다. 이렇게 말씀드리면, 투자 수익으로 살 게 아니라 퇴직할 때까지 모은 돈을 나눠 쓰면 되지 않느냐고 생각하는 분도 계실 겁니다. 예를 들어 10억 원을 모아 65세부터 120세까지 쓴다면, 1년에 1,800만 원 정도씩 쓰면 됩니다. 여기서는 예금 이자도 생각하지 않았습니다. 이렇게 하면 문제가 되는 것이 바로 인플레이션입니다.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사람들은 돈의 가치가 늘 같다고 생각합니다. 하지만 길게 놓고 보면 그렇지 않습니다. 이코노미스트 2022년 2월 26일 자 「옛 자장면값, 기억하나요」를 보면, 2000년에 2,742원이던 짜장면은 2022년에 5,769원이 되었고, 설렁탕은 4,217원에서 9,000원이 되었습니다. 그래서 지금 10억 원을 1원도 쓰지 않고 그대로 두어도, 통장의 숫자는 그대로지만 23년 뒤에는 물가가 두 배로 올라서 실제로 살 수 있는 것은 절반, 5억 원어치가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이렇게 가격이 올랐을까요? 나라가 해마다 돈을 찍어 내기 때문입니다. 최근의 코로나 같은 불황이 오면 나라는 돈을 풀어 경기를 살립니다. 물론 돈을 찍어 내는 것 말고도 방법은 많습니다. 이렇게 풀린 돈을 통화공급량, M2라고 하는데, 그래프로 보면 나라가 지금까지 돈을 얼마나 찍어 냈는지 알 수 있습니다. 돈이 많아질수록 돈의 가치는 떨어지고 물가는 오릅니다. 이것이 인플레이션이고, 지금 경제에서는 너무나 당연하게 일어납니다. 반대로 돈의 가치가 오르면 일본의 잃어버린 30년처럼 더 어두운 상황이 벌어집니다.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예를 들어 보겠습니다. 65세에 은퇴한 분이 10억 원을 모았고, 23년 동안 생활비로 1년에 2,000만 원씩 썼다고 하겠습니다. 쓴 돈은 4억 6천만 원이니, 통장에는 5억 4천만 원이 남은 것처럼 보입니다. 하지만 인플레이션을 고려하면 돈의 가치는 계속 줄어들고 생활비까지 나가기 때문에, 실제 가치는 많아야 2억 7천만 원입니다. 89세가 된 이분은 남은 30년 정도를 2억 7천만 원으로 살아야 합니다. 투자하지 않고 돈을 가지고만 있는 사람은 빠르게 가난해집니다. 이번에는 복리가 칼이 되어 돌아오는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예전에는 은퇴하고 얼마 지나지 않아 세상을 떠나는 경우가 많아서 인플레이션을 크게 느끼지 못했습니다. 하지만 이제는 은퇴한 뒤에도 최소 55년의 삶이 남아 있어서, 현금만 모아 두면 많은 문제가 생깁니다. 풍족하지는 않더라도 가난해지지 않으려면, 늘어난 수명과 인플레이션을 함께 생각해야 합니다. 65세 은퇴 뒤 55년의 현금흐름을 지금 마련해 두어야 합니다. 투자 공부는 선택이 아니라 생존의 문제입니다. 퇴직하고 나서 시작하면 이미 늦고, 노인 빈곤층에 한 걸음 가까워질 수 있습니다. 투자는 선택이 아니라 필수입니다. 들어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315200" cy="1234440"/>
          </a:xfrm>
          <a:prstGeom prst="rect">
            <a:avLst/>
          </a:prstGeom>
          <a:noFill/>
          <a:ln/>
        </p:spPr>
        <p:txBody>
          <a:bodyPr wrap="square" rtlCol="0"/>
          <a:lstStyle>
            <a:lvl1pPr algn="l" indent="0" marL="0">
              <a:buNone/>
              <a:defRPr lang="en-US" sz="5600" b="1" dirty="0">
                <a:solidFill>
                  <a:schemeClr val="bg1"/>
                </a:solidFill>
              </a:defRPr>
            </a:lvl1pPr>
          </a:lstStyle>
          <a:p>
            <a:pPr algn="l" indent="0" marL="0">
              <a:buNone/>
            </a:pPr>
            <a:endParaRPr lang="en-US" sz="5600" dirty="0"/>
          </a:p>
        </p:txBody>
      </p:sp>
      <p:sp>
        <p:nvSpPr>
          <p:cNvPr id="3" name="Text 0"/>
          <p:cNvSpPr/>
          <p:nvPr>
            <p:ph idx="101" type="body" hasCustomPrompt="1"/>
          </p:nvPr>
        </p:nvSpPr>
        <p:spPr>
          <a:xfrm>
            <a:off x="731520" y="3886200"/>
            <a:ext cx="7315200" cy="548640"/>
          </a:xfrm>
          <a:prstGeom prst="rect">
            <a:avLst/>
          </a:prstGeom>
          <a:noFill/>
          <a:ln/>
        </p:spPr>
        <p:txBody>
          <a:bodyPr wrap="square" rtlCol="0"/>
          <a:lstStyle>
            <a:lvl1pPr algn="l" indent="0" marL="0">
              <a:buNone/>
              <a:defRPr lang="en-US" sz="2400" dirty="0">
                <a:solidFill>
                  <a:schemeClr val="accent3"/>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728655" cy="109728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731520" y="3657600"/>
            <a:ext cx="10728655" cy="1463040"/>
          </a:xfrm>
          <a:prstGeom prst="rect">
            <a:avLst/>
          </a:prstGeom>
          <a:noFill/>
          <a:ln/>
        </p:spPr>
        <p:txBody>
          <a:bodyPr wrap="square" rtlCol="0"/>
          <a:lstStyle>
            <a:lvl1pPr algn="l" indent="0" marL="0">
              <a:spcAft>
                <a:spcPts val="1200"/>
              </a:spcAft>
              <a:buNone/>
              <a:defRPr lang="en-US" sz="2600" dirty="0">
                <a:solidFill>
                  <a:schemeClr val="accent5"/>
                </a:solidFill>
              </a:defRPr>
            </a:lvl1pPr>
          </a:lstStyle>
          <a:p>
            <a:pPr algn="l" indent="0" marL="0">
              <a:spcAft>
                <a:spcPts val="1200"/>
              </a:spcAft>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315200" cy="1234440"/>
          </a:xfrm>
          <a:prstGeom prst="rect">
            <a:avLst/>
          </a:prstGeom>
          <a:noFill/>
          <a:ln/>
        </p:spPr>
        <p:txBody>
          <a:bodyPr wrap="square" lIns="0" tIns="0" rIns="0" bIns="0" rtlCol="0" anchor="ctr"/>
          <a:lstStyle/>
          <a:p>
            <a:pPr algn="l" indent="0" marL="0">
              <a:buNone/>
            </a:pPr>
            <a:r>
              <a:rPr lang="en-US" sz="5600" b="1" dirty="0">
                <a:solidFill>
                  <a:schemeClr val="bg1"/>
                </a:solidFill>
              </a:rPr>
              <a:t>투자를 해야 하는 이유</a:t>
            </a:r>
            <a:endParaRPr lang="en-US" sz="5600" dirty="0"/>
          </a:p>
        </p:txBody>
      </p:sp>
      <p:sp>
        <p:nvSpPr>
          <p:cNvPr id="3" name="Text 0"/>
          <p:cNvSpPr/>
          <p:nvPr>
            <p:ph idx="101" type="body" hasCustomPrompt="1"/>
          </p:nvPr>
        </p:nvSpPr>
        <p:spPr>
          <a:xfrm>
            <a:off x="731520" y="3886200"/>
            <a:ext cx="7315200" cy="548640"/>
          </a:xfrm>
          <a:prstGeom prst="rect">
            <a:avLst/>
          </a:prstGeom>
          <a:noFill/>
          <a:ln/>
        </p:spPr>
        <p:txBody>
          <a:bodyPr wrap="square" lIns="0" tIns="0" rIns="0" bIns="0" rtlCol="0" anchor="t"/>
          <a:lstStyle/>
          <a:p>
            <a:pPr algn="l" indent="0" marL="0">
              <a:buNone/>
            </a:pPr>
            <a:r>
              <a:rPr lang="en-US" sz="2400" dirty="0">
                <a:solidFill>
                  <a:schemeClr val="accent3"/>
                </a:solidFill>
              </a:rPr>
              <a:t>동네 독서 모임 발표</a:t>
            </a:r>
            <a:endParaRPr lang="en-US" sz="2400" dirty="0"/>
          </a:p>
        </p:txBody>
      </p:sp>
      <p:sp>
        <p:nvSpPr>
          <p:cNvPr id="4" name="series tag"/>
          <p:cNvSpPr/>
          <p:nvPr/>
        </p:nvSpPr>
        <p:spPr>
          <a:xfrm>
            <a:off x="731520" y="1920240"/>
            <a:ext cx="2411730" cy="438912"/>
          </a:xfrm>
          <a:prstGeom prst="roundRect">
            <a:avLst>
              <a:gd name="adj" fmla="val 45833"/>
            </a:avLst>
          </a:prstGeom>
          <a:solidFill>
            <a:schemeClr val="accent1"/>
          </a:solidFill>
          <a:ln/>
        </p:spPr>
        <p:txBody>
          <a:bodyPr wrap="square" lIns="0" tIns="0" rIns="0" bIns="0" rtlCol="0" anchor="ctr"/>
          <a:lstStyle/>
          <a:p>
            <a:pPr algn="ctr" indent="0" marL="0">
              <a:buNone/>
            </a:pPr>
            <a:r>
              <a:rPr lang="en-US" sz="1800" b="1" dirty="0">
                <a:solidFill>
                  <a:schemeClr val="tx1"/>
                </a:solidFill>
              </a:rPr>
              <a:t>투자를 합시다 1편</a:t>
            </a:r>
            <a:endParaRPr lang="en-US" sz="1800" dirty="0"/>
          </a:p>
        </p:txBody>
      </p:sp>
      <p:sp>
        <p:nvSpPr>
          <p:cNvPr id="5" name="cover small coin"/>
          <p:cNvSpPr/>
          <p:nvPr/>
        </p:nvSpPr>
        <p:spPr>
          <a:xfrm>
            <a:off x="9875520" y="3840480"/>
            <a:ext cx="1371600" cy="1371600"/>
          </a:xfrm>
          <a:prstGeom prst="ellipse">
            <a:avLst/>
          </a:prstGeom>
          <a:solidFill>
            <a:schemeClr val="accent6"/>
          </a:solidFill>
          <a:ln/>
        </p:spPr>
      </p:sp>
      <p:pic>
        <p:nvPicPr>
          <p:cNvPr id="6" name="cover small icon" descr="cover small 아이콘">    </p:cNvPr>
          <p:cNvPicPr>
            <a:picLocks noChangeAspect="1"/>
          </p:cNvPicPr>
          <p:nvPr/>
        </p:nvPicPr>
        <p:blipFill>
          <a:blip r:embed="rId1"/>
          <a:stretch>
            <a:fillRect/>
          </a:stretch>
        </p:blipFill>
        <p:spPr>
          <a:xfrm>
            <a:off x="10232136" y="4197096"/>
            <a:ext cx="658368" cy="658368"/>
          </a:xfrm>
          <a:prstGeom prst="rect">
            <a:avLst/>
          </a:prstGeom>
        </p:spPr>
      </p:pic>
      <p:sp>
        <p:nvSpPr>
          <p:cNvPr id="7" name="cover big coin"/>
          <p:cNvSpPr/>
          <p:nvPr/>
        </p:nvSpPr>
        <p:spPr>
          <a:xfrm>
            <a:off x="8549640" y="1463040"/>
            <a:ext cx="2743200" cy="2743200"/>
          </a:xfrm>
          <a:prstGeom prst="ellipse">
            <a:avLst/>
          </a:prstGeom>
          <a:solidFill>
            <a:schemeClr val="accent1"/>
          </a:solidFill>
          <a:ln/>
        </p:spPr>
      </p:sp>
      <p:pic>
        <p:nvPicPr>
          <p:cNvPr id="8" name="cover big icon" descr="cover big 아이콘">    </p:cNvPr>
          <p:cNvPicPr>
            <a:picLocks noChangeAspect="1"/>
          </p:cNvPicPr>
          <p:nvPr/>
        </p:nvPicPr>
        <p:blipFill>
          <a:blip r:embed="rId2"/>
          <a:stretch>
            <a:fillRect/>
          </a:stretch>
        </p:blipFill>
        <p:spPr>
          <a:xfrm>
            <a:off x="9262872" y="2176272"/>
            <a:ext cx="1316736" cy="13167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lIns="0" tIns="0" rIns="0" bIns="0" rtlCol="0" anchor="ctr"/>
          <a:lstStyle/>
          <a:p>
            <a:pPr algn="l" indent="0" marL="0">
              <a:buNone/>
            </a:pPr>
            <a:r>
              <a:rPr lang="en-US" sz="3800" b="1" dirty="0">
                <a:solidFill>
                  <a:schemeClr val="tx1"/>
                </a:solidFill>
              </a:rPr>
              <a:t>흘려듣던 제가 투자를 시작했습니다</a:t>
            </a:r>
            <a:endParaRPr lang="en-US" sz="3800" dirty="0"/>
          </a:p>
        </p:txBody>
      </p:sp>
      <p:sp>
        <p:nvSpPr>
          <p:cNvPr id="3" name="section tag"/>
          <p:cNvSpPr/>
          <p:nvPr/>
        </p:nvSpPr>
        <p:spPr>
          <a:xfrm>
            <a:off x="731520" y="457200"/>
            <a:ext cx="1315720" cy="402336"/>
          </a:xfrm>
          <a:prstGeom prst="roundRect">
            <a:avLst>
              <a:gd name="adj" fmla="val 50000"/>
            </a:avLst>
          </a:prstGeom>
          <a:solidFill>
            <a:schemeClr val="accent5"/>
          </a:solidFill>
          <a:ln/>
        </p:spPr>
        <p:txBody>
          <a:bodyPr wrap="square" lIns="0" tIns="0" rIns="0" bIns="0" rtlCol="0" anchor="ctr"/>
          <a:lstStyle/>
          <a:p>
            <a:pPr algn="ctr" indent="0" marL="0">
              <a:buNone/>
            </a:pPr>
            <a:r>
              <a:rPr lang="en-US" sz="1600" b="1" dirty="0">
                <a:solidFill>
                  <a:schemeClr val="tx1"/>
                </a:solidFill>
              </a:rPr>
              <a:t>들어가며</a:t>
            </a:r>
            <a:endParaRPr lang="en-US" sz="1600" dirty="0"/>
          </a:p>
        </p:txBody>
      </p:sp>
      <p:sp>
        <p:nvSpPr>
          <p:cNvPr id="4" name="message"/>
          <p:cNvSpPr txBox="1"/>
          <p:nvPr/>
        </p:nvSpPr>
        <p:spPr>
          <a:xfrm>
            <a:off x="731520" y="1920240"/>
            <a:ext cx="10728655" cy="594360"/>
          </a:xfrm>
          <a:prstGeom prst="rect">
            <a:avLst/>
          </a:prstGeom>
          <a:noFill/>
          <a:ln/>
        </p:spPr>
        <p:txBody>
          <a:bodyPr wrap="square" lIns="0" tIns="0" rIns="0" bIns="0" rtlCol="0" anchor="ctr"/>
          <a:lstStyle/>
          <a:p>
            <a:pPr indent="0" marL="0">
              <a:buNone/>
            </a:pPr>
            <a:r>
              <a:rPr lang="en-US" sz="2600" dirty="0">
                <a:solidFill>
                  <a:schemeClr val="tx1"/>
                </a:solidFill>
              </a:rPr>
              <a:t>건물주 선배의 투자 이야기를 몇 년 동안 흘려들었습니다</a:t>
            </a:r>
            <a:endParaRPr lang="en-US" sz="2600" dirty="0"/>
          </a:p>
        </p:txBody>
      </p:sp>
      <p:sp>
        <p:nvSpPr>
          <p:cNvPr id="5" name="step 2019 분양권"/>
          <p:cNvSpPr/>
          <p:nvPr/>
        </p:nvSpPr>
        <p:spPr>
          <a:xfrm>
            <a:off x="731520" y="3246120"/>
            <a:ext cx="2339264" cy="1325880"/>
          </a:xfrm>
          <a:prstGeom prst="roundRect">
            <a:avLst>
              <a:gd name="adj" fmla="val 11034"/>
            </a:avLst>
          </a:prstGeom>
          <a:solidFill>
            <a:schemeClr val="bg2"/>
          </a:solidFill>
          <a:ln/>
        </p:spPr>
      </p:sp>
      <p:sp>
        <p:nvSpPr>
          <p:cNvPr id="6" name="step 2019 분양권 coin"/>
          <p:cNvSpPr/>
          <p:nvPr/>
        </p:nvSpPr>
        <p:spPr>
          <a:xfrm>
            <a:off x="1443952" y="2788920"/>
            <a:ext cx="914400" cy="914400"/>
          </a:xfrm>
          <a:prstGeom prst="ellipse">
            <a:avLst/>
          </a:prstGeom>
          <a:solidFill>
            <a:schemeClr val="accent1"/>
          </a:solidFill>
          <a:ln/>
        </p:spPr>
      </p:sp>
      <p:pic>
        <p:nvPicPr>
          <p:cNvPr id="7" name="step 2019 분양권 icon" descr="step 2019 분양권 아이콘">    </p:cNvPr>
          <p:cNvPicPr>
            <a:picLocks noChangeAspect="1"/>
          </p:cNvPicPr>
          <p:nvPr/>
        </p:nvPicPr>
        <p:blipFill>
          <a:blip r:embed="rId1"/>
          <a:stretch>
            <a:fillRect/>
          </a:stretch>
        </p:blipFill>
        <p:spPr>
          <a:xfrm>
            <a:off x="1681696" y="3026664"/>
            <a:ext cx="438912" cy="438912"/>
          </a:xfrm>
          <a:prstGeom prst="rect">
            <a:avLst/>
          </a:prstGeom>
        </p:spPr>
      </p:pic>
      <p:sp>
        <p:nvSpPr>
          <p:cNvPr id="8" name="step label 2019 분양권"/>
          <p:cNvSpPr txBox="1"/>
          <p:nvPr/>
        </p:nvSpPr>
        <p:spPr>
          <a:xfrm>
            <a:off x="731520" y="3794760"/>
            <a:ext cx="2339264" cy="640080"/>
          </a:xfrm>
          <a:prstGeom prst="rect">
            <a:avLst/>
          </a:prstGeom>
          <a:noFill/>
          <a:ln/>
        </p:spPr>
        <p:txBody>
          <a:bodyPr wrap="square" lIns="0" tIns="0" rIns="0" bIns="0" rtlCol="0" anchor="ctr"/>
          <a:lstStyle/>
          <a:p>
            <a:pPr algn="ctr" indent="0" marL="0">
              <a:buNone/>
            </a:pPr>
            <a:r>
              <a:rPr lang="en-US" sz="2600" b="1" dirty="0">
                <a:solidFill>
                  <a:schemeClr val="tx1"/>
                </a:solidFill>
              </a:rPr>
              <a:t>2019 분양권</a:t>
            </a:r>
            <a:endParaRPr lang="en-US" sz="2600" dirty="0"/>
          </a:p>
        </p:txBody>
      </p:sp>
      <p:sp>
        <p:nvSpPr>
          <p:cNvPr id="9" name="arrow 1"/>
          <p:cNvSpPr/>
          <p:nvPr/>
        </p:nvSpPr>
        <p:spPr>
          <a:xfrm>
            <a:off x="3180512" y="3767328"/>
            <a:ext cx="237744" cy="292608"/>
          </a:xfrm>
          <a:prstGeom prst="rightArrow">
            <a:avLst/>
          </a:prstGeom>
          <a:solidFill>
            <a:schemeClr val="accent3"/>
          </a:solidFill>
          <a:ln/>
        </p:spPr>
      </p:sp>
      <p:sp>
        <p:nvSpPr>
          <p:cNvPr id="10" name="step 부동산"/>
          <p:cNvSpPr/>
          <p:nvPr/>
        </p:nvSpPr>
        <p:spPr>
          <a:xfrm>
            <a:off x="3527984" y="3246120"/>
            <a:ext cx="2339264" cy="1325880"/>
          </a:xfrm>
          <a:prstGeom prst="roundRect">
            <a:avLst>
              <a:gd name="adj" fmla="val 11034"/>
            </a:avLst>
          </a:prstGeom>
          <a:solidFill>
            <a:schemeClr val="bg2"/>
          </a:solidFill>
          <a:ln/>
        </p:spPr>
      </p:sp>
      <p:sp>
        <p:nvSpPr>
          <p:cNvPr id="11" name="step 부동산 coin"/>
          <p:cNvSpPr/>
          <p:nvPr/>
        </p:nvSpPr>
        <p:spPr>
          <a:xfrm>
            <a:off x="4240416" y="2788920"/>
            <a:ext cx="914400" cy="914400"/>
          </a:xfrm>
          <a:prstGeom prst="ellipse">
            <a:avLst/>
          </a:prstGeom>
          <a:solidFill>
            <a:schemeClr val="tx2"/>
          </a:solidFill>
          <a:ln/>
        </p:spPr>
      </p:sp>
      <p:pic>
        <p:nvPicPr>
          <p:cNvPr id="12" name="step 부동산 icon" descr="step 부동산 아이콘">    </p:cNvPr>
          <p:cNvPicPr>
            <a:picLocks noChangeAspect="1"/>
          </p:cNvPicPr>
          <p:nvPr/>
        </p:nvPicPr>
        <p:blipFill>
          <a:blip r:embed="rId2"/>
          <a:stretch>
            <a:fillRect/>
          </a:stretch>
        </p:blipFill>
        <p:spPr>
          <a:xfrm>
            <a:off x="4478160" y="3026664"/>
            <a:ext cx="438912" cy="438912"/>
          </a:xfrm>
          <a:prstGeom prst="rect">
            <a:avLst/>
          </a:prstGeom>
        </p:spPr>
      </p:pic>
      <p:sp>
        <p:nvSpPr>
          <p:cNvPr id="13" name="step label 부동산"/>
          <p:cNvSpPr txBox="1"/>
          <p:nvPr/>
        </p:nvSpPr>
        <p:spPr>
          <a:xfrm>
            <a:off x="3527984" y="3794760"/>
            <a:ext cx="2339264" cy="640080"/>
          </a:xfrm>
          <a:prstGeom prst="rect">
            <a:avLst/>
          </a:prstGeom>
          <a:noFill/>
          <a:ln/>
        </p:spPr>
        <p:txBody>
          <a:bodyPr wrap="square" lIns="0" tIns="0" rIns="0" bIns="0" rtlCol="0" anchor="ctr"/>
          <a:lstStyle/>
          <a:p>
            <a:pPr algn="ctr" indent="0" marL="0">
              <a:buNone/>
            </a:pPr>
            <a:r>
              <a:rPr lang="en-US" sz="2600" b="1" dirty="0">
                <a:solidFill>
                  <a:schemeClr val="tx1"/>
                </a:solidFill>
              </a:rPr>
              <a:t>부동산</a:t>
            </a:r>
            <a:endParaRPr lang="en-US" sz="2600" dirty="0"/>
          </a:p>
        </p:txBody>
      </p:sp>
      <p:sp>
        <p:nvSpPr>
          <p:cNvPr id="14" name="arrow 2"/>
          <p:cNvSpPr/>
          <p:nvPr/>
        </p:nvSpPr>
        <p:spPr>
          <a:xfrm>
            <a:off x="5976976" y="3767328"/>
            <a:ext cx="237744" cy="292608"/>
          </a:xfrm>
          <a:prstGeom prst="rightArrow">
            <a:avLst/>
          </a:prstGeom>
          <a:solidFill>
            <a:schemeClr val="accent3"/>
          </a:solidFill>
          <a:ln/>
        </p:spPr>
      </p:sp>
      <p:sp>
        <p:nvSpPr>
          <p:cNvPr id="15" name="step 주식"/>
          <p:cNvSpPr/>
          <p:nvPr/>
        </p:nvSpPr>
        <p:spPr>
          <a:xfrm>
            <a:off x="6324448" y="3246120"/>
            <a:ext cx="2339264" cy="1325880"/>
          </a:xfrm>
          <a:prstGeom prst="roundRect">
            <a:avLst>
              <a:gd name="adj" fmla="val 11034"/>
            </a:avLst>
          </a:prstGeom>
          <a:solidFill>
            <a:schemeClr val="bg2"/>
          </a:solidFill>
          <a:ln/>
        </p:spPr>
      </p:sp>
      <p:sp>
        <p:nvSpPr>
          <p:cNvPr id="16" name="step 주식 coin"/>
          <p:cNvSpPr/>
          <p:nvPr/>
        </p:nvSpPr>
        <p:spPr>
          <a:xfrm>
            <a:off x="7036880" y="2788920"/>
            <a:ext cx="914400" cy="914400"/>
          </a:xfrm>
          <a:prstGeom prst="ellipse">
            <a:avLst/>
          </a:prstGeom>
          <a:solidFill>
            <a:schemeClr val="tx2"/>
          </a:solidFill>
          <a:ln/>
        </p:spPr>
      </p:sp>
      <p:pic>
        <p:nvPicPr>
          <p:cNvPr id="17" name="step 주식 icon" descr="step 주식 아이콘">    </p:cNvPr>
          <p:cNvPicPr>
            <a:picLocks noChangeAspect="1"/>
          </p:cNvPicPr>
          <p:nvPr/>
        </p:nvPicPr>
        <p:blipFill>
          <a:blip r:embed="rId3"/>
          <a:stretch>
            <a:fillRect/>
          </a:stretch>
        </p:blipFill>
        <p:spPr>
          <a:xfrm>
            <a:off x="7274624" y="3026664"/>
            <a:ext cx="438912" cy="438912"/>
          </a:xfrm>
          <a:prstGeom prst="rect">
            <a:avLst/>
          </a:prstGeom>
        </p:spPr>
      </p:pic>
      <p:sp>
        <p:nvSpPr>
          <p:cNvPr id="18" name="step label 주식"/>
          <p:cNvSpPr txBox="1"/>
          <p:nvPr/>
        </p:nvSpPr>
        <p:spPr>
          <a:xfrm>
            <a:off x="6324448" y="3794760"/>
            <a:ext cx="2339264" cy="640080"/>
          </a:xfrm>
          <a:prstGeom prst="rect">
            <a:avLst/>
          </a:prstGeom>
          <a:noFill/>
          <a:ln/>
        </p:spPr>
        <p:txBody>
          <a:bodyPr wrap="square" lIns="0" tIns="0" rIns="0" bIns="0" rtlCol="0" anchor="ctr"/>
          <a:lstStyle/>
          <a:p>
            <a:pPr algn="ctr" indent="0" marL="0">
              <a:buNone/>
            </a:pPr>
            <a:r>
              <a:rPr lang="en-US" sz="2600" b="1" dirty="0">
                <a:solidFill>
                  <a:schemeClr val="tx1"/>
                </a:solidFill>
              </a:rPr>
              <a:t>주식</a:t>
            </a:r>
            <a:endParaRPr lang="en-US" sz="2600" dirty="0"/>
          </a:p>
        </p:txBody>
      </p:sp>
      <p:sp>
        <p:nvSpPr>
          <p:cNvPr id="19" name="arrow 3"/>
          <p:cNvSpPr/>
          <p:nvPr/>
        </p:nvSpPr>
        <p:spPr>
          <a:xfrm>
            <a:off x="8773439" y="3767328"/>
            <a:ext cx="237744" cy="292608"/>
          </a:xfrm>
          <a:prstGeom prst="rightArrow">
            <a:avLst/>
          </a:prstGeom>
          <a:solidFill>
            <a:schemeClr val="accent3"/>
          </a:solidFill>
          <a:ln/>
        </p:spPr>
      </p:sp>
      <p:sp>
        <p:nvSpPr>
          <p:cNvPr id="20" name="step 경매"/>
          <p:cNvSpPr/>
          <p:nvPr/>
        </p:nvSpPr>
        <p:spPr>
          <a:xfrm>
            <a:off x="9120911" y="3246120"/>
            <a:ext cx="2339264" cy="1325880"/>
          </a:xfrm>
          <a:prstGeom prst="roundRect">
            <a:avLst>
              <a:gd name="adj" fmla="val 11034"/>
            </a:avLst>
          </a:prstGeom>
          <a:solidFill>
            <a:schemeClr val="bg2"/>
          </a:solidFill>
          <a:ln/>
        </p:spPr>
      </p:sp>
      <p:sp>
        <p:nvSpPr>
          <p:cNvPr id="21" name="step 경매 coin"/>
          <p:cNvSpPr/>
          <p:nvPr/>
        </p:nvSpPr>
        <p:spPr>
          <a:xfrm>
            <a:off x="9833343" y="2788920"/>
            <a:ext cx="914400" cy="914400"/>
          </a:xfrm>
          <a:prstGeom prst="ellipse">
            <a:avLst/>
          </a:prstGeom>
          <a:solidFill>
            <a:schemeClr val="tx2"/>
          </a:solidFill>
          <a:ln/>
        </p:spPr>
      </p:sp>
      <p:pic>
        <p:nvPicPr>
          <p:cNvPr id="22" name="step 경매 icon" descr="step 경매 아이콘">    </p:cNvPr>
          <p:cNvPicPr>
            <a:picLocks noChangeAspect="1"/>
          </p:cNvPicPr>
          <p:nvPr/>
        </p:nvPicPr>
        <p:blipFill>
          <a:blip r:embed="rId4"/>
          <a:stretch>
            <a:fillRect/>
          </a:stretch>
        </p:blipFill>
        <p:spPr>
          <a:xfrm>
            <a:off x="10071087" y="3026664"/>
            <a:ext cx="438912" cy="438912"/>
          </a:xfrm>
          <a:prstGeom prst="rect">
            <a:avLst/>
          </a:prstGeom>
        </p:spPr>
      </p:pic>
      <p:sp>
        <p:nvSpPr>
          <p:cNvPr id="23" name="step label 경매"/>
          <p:cNvSpPr txBox="1"/>
          <p:nvPr/>
        </p:nvSpPr>
        <p:spPr>
          <a:xfrm>
            <a:off x="9120911" y="3794760"/>
            <a:ext cx="2339264" cy="640080"/>
          </a:xfrm>
          <a:prstGeom prst="rect">
            <a:avLst/>
          </a:prstGeom>
          <a:noFill/>
          <a:ln/>
        </p:spPr>
        <p:txBody>
          <a:bodyPr wrap="square" lIns="0" tIns="0" rIns="0" bIns="0" rtlCol="0" anchor="ctr"/>
          <a:lstStyle/>
          <a:p>
            <a:pPr algn="ctr" indent="0" marL="0">
              <a:buNone/>
            </a:pPr>
            <a:r>
              <a:rPr lang="en-US" sz="2600" b="1" dirty="0">
                <a:solidFill>
                  <a:schemeClr val="tx1"/>
                </a:solidFill>
              </a:rPr>
              <a:t>경매</a:t>
            </a:r>
            <a:endParaRPr lang="en-US" sz="2600" dirty="0"/>
          </a:p>
        </p:txBody>
      </p:sp>
      <p:sp>
        <p:nvSpPr>
          <p:cNvPr id="24" name="message"/>
          <p:cNvSpPr txBox="1"/>
          <p:nvPr/>
        </p:nvSpPr>
        <p:spPr>
          <a:xfrm>
            <a:off x="731520" y="5074920"/>
            <a:ext cx="10728655" cy="594360"/>
          </a:xfrm>
          <a:prstGeom prst="rect">
            <a:avLst/>
          </a:prstGeom>
          <a:noFill/>
          <a:ln/>
        </p:spPr>
        <p:txBody>
          <a:bodyPr wrap="square" lIns="0" tIns="0" rIns="0" bIns="0" rtlCol="0" anchor="ctr"/>
          <a:lstStyle/>
          <a:p>
            <a:pPr indent="0" marL="0">
              <a:buNone/>
            </a:pPr>
            <a:r>
              <a:rPr lang="en-US" sz="2600" dirty="0">
                <a:solidFill>
                  <a:schemeClr val="tx1"/>
                </a:solidFill>
              </a:rPr>
              <a:t>이제는 제가 누군가의 </a:t>
            </a:r>
            <a:pPr indent="0" marL="0">
              <a:buNone/>
            </a:pPr>
            <a:r>
              <a:rPr lang="en-US" sz="2600" b="1" dirty="0">
                <a:solidFill>
                  <a:schemeClr val="tx1"/>
                </a:solidFill>
              </a:rPr>
              <a:t>밑거름</a:t>
            </a:r>
            <a:pPr indent="0" marL="0">
              <a:buNone/>
            </a:pPr>
            <a:r>
              <a:rPr lang="en-US" sz="2600" dirty="0">
                <a:solidFill>
                  <a:schemeClr val="tx1"/>
                </a:solidFill>
              </a:rPr>
              <a:t>이 되고 싶습니다</a:t>
            </a:r>
            <a:endParaRPr lang="en-US" sz="2600" dirty="0"/>
          </a:p>
        </p:txBody>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lIns="0" tIns="0" rIns="0" bIns="0" rtlCol="0" anchor="ctr"/>
          <a:lstStyle/>
          <a:p>
            <a:pPr algn="l" indent="0" marL="0">
              <a:buNone/>
            </a:pPr>
            <a:r>
              <a:rPr lang="en-US" sz="3800" b="1" dirty="0">
                <a:solidFill>
                  <a:schemeClr val="tx1"/>
                </a:solidFill>
              </a:rPr>
              <a:t>환갑잔치가 옛말이 됐습니다</a:t>
            </a:r>
            <a:endParaRPr lang="en-US" sz="3800" dirty="0"/>
          </a:p>
        </p:txBody>
      </p:sp>
      <p:sp>
        <p:nvSpPr>
          <p:cNvPr id="3" name="section tag"/>
          <p:cNvSpPr/>
          <p:nvPr/>
        </p:nvSpPr>
        <p:spPr>
          <a:xfrm>
            <a:off x="731520" y="457200"/>
            <a:ext cx="1935480" cy="402336"/>
          </a:xfrm>
          <a:prstGeom prst="roundRect">
            <a:avLst>
              <a:gd name="adj" fmla="val 50000"/>
            </a:avLst>
          </a:prstGeom>
          <a:solidFill>
            <a:schemeClr val="accent5"/>
          </a:solidFill>
          <a:ln/>
        </p:spPr>
        <p:txBody>
          <a:bodyPr wrap="square" lIns="0" tIns="0" rIns="0" bIns="0" rtlCol="0" anchor="ctr"/>
          <a:lstStyle/>
          <a:p>
            <a:pPr algn="ctr" indent="0" marL="0">
              <a:buNone/>
            </a:pPr>
            <a:r>
              <a:rPr lang="en-US" sz="1600" b="1" dirty="0">
                <a:solidFill>
                  <a:schemeClr val="tx1"/>
                </a:solidFill>
              </a:rPr>
              <a:t>가. 늘어난 수명</a:t>
            </a:r>
            <a:endParaRPr lang="en-US" sz="1600" dirty="0"/>
          </a:p>
        </p:txBody>
      </p:sp>
      <p:graphicFrame>
        <p:nvGraphicFramePr>
          <p:cNvPr id="4" name="lifespan chart" descr="평균수명 막대그래프: 1940년대 40세, 2024년 남성 86.3세, 2024년 여성 90.7세"/>
          <p:cNvGraphicFramePr/>
          <p:nvPr/>
        </p:nvGraphicFramePr>
        <p:xfrm>
          <a:off x="731520" y="1874520"/>
          <a:ext cx="10728655" cy="3474720"/>
        </p:xfrm>
        <a:graphic xmlns:a="http://schemas.openxmlformats.org/drawingml/2006/main">
          <a:graphicData uri="http://schemas.openxmlformats.org/drawingml/2006/chart">
            <c:chart xmlns:c="http://schemas.openxmlformats.org/drawingml/2006/chart" r:id="rId1"/>
          </a:graphicData>
        </a:graphic>
      </p:graphicFrame>
      <p:sp>
        <p:nvSpPr>
          <p:cNvPr id="5" name="message"/>
          <p:cNvSpPr txBox="1"/>
          <p:nvPr/>
        </p:nvSpPr>
        <p:spPr>
          <a:xfrm>
            <a:off x="731520" y="5486400"/>
            <a:ext cx="10728655" cy="594360"/>
          </a:xfrm>
          <a:prstGeom prst="rect">
            <a:avLst/>
          </a:prstGeom>
          <a:noFill/>
          <a:ln/>
        </p:spPr>
        <p:txBody>
          <a:bodyPr wrap="square" lIns="0" tIns="0" rIns="0" bIns="0" rtlCol="0" anchor="ctr"/>
          <a:lstStyle/>
          <a:p>
            <a:pPr indent="0" marL="0">
              <a:buNone/>
            </a:pPr>
            <a:r>
              <a:rPr lang="en-US" sz="2600" dirty="0">
                <a:solidFill>
                  <a:schemeClr val="tx1"/>
                </a:solidFill>
              </a:rPr>
              <a:t>그런데 우리는 </a:t>
            </a:r>
            <a:pPr indent="0" marL="0">
              <a:buNone/>
            </a:pPr>
            <a:r>
              <a:rPr lang="en-US" sz="2600" b="1" dirty="0">
                <a:solidFill>
                  <a:schemeClr val="tx1"/>
                </a:solidFill>
              </a:rPr>
              <a:t>80세 이후의 삶</a:t>
            </a:r>
            <a:pPr indent="0" marL="0">
              <a:buNone/>
            </a:pPr>
            <a:r>
              <a:rPr lang="en-US" sz="2600" dirty="0">
                <a:solidFill>
                  <a:schemeClr val="tx1"/>
                </a:solidFill>
              </a:rPr>
              <a:t>을 생각하지 않습니다</a:t>
            </a:r>
            <a:endParaRPr lang="en-US" sz="2600" dirty="0"/>
          </a:p>
        </p:txBody>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lIns="0" tIns="0" rIns="0" bIns="0" rtlCol="0" anchor="ctr"/>
          <a:lstStyle/>
          <a:p>
            <a:pPr algn="l" indent="0" marL="0">
              <a:buNone/>
            </a:pPr>
            <a:r>
              <a:rPr lang="en-US" sz="3800" b="1" dirty="0">
                <a:solidFill>
                  <a:schemeClr val="tx1"/>
                </a:solidFill>
              </a:rPr>
              <a:t>115세에서 150세까지 산다고 합니다</a:t>
            </a:r>
            <a:endParaRPr lang="en-US" sz="3800" dirty="0"/>
          </a:p>
        </p:txBody>
      </p:sp>
      <p:sp>
        <p:nvSpPr>
          <p:cNvPr id="3" name="section tag"/>
          <p:cNvSpPr/>
          <p:nvPr/>
        </p:nvSpPr>
        <p:spPr>
          <a:xfrm>
            <a:off x="731520" y="457200"/>
            <a:ext cx="1935480" cy="402336"/>
          </a:xfrm>
          <a:prstGeom prst="roundRect">
            <a:avLst>
              <a:gd name="adj" fmla="val 50000"/>
            </a:avLst>
          </a:prstGeom>
          <a:solidFill>
            <a:schemeClr val="accent5"/>
          </a:solidFill>
          <a:ln/>
        </p:spPr>
        <p:txBody>
          <a:bodyPr wrap="square" lIns="0" tIns="0" rIns="0" bIns="0" rtlCol="0" anchor="ctr"/>
          <a:lstStyle/>
          <a:p>
            <a:pPr algn="ctr" indent="0" marL="0">
              <a:buNone/>
            </a:pPr>
            <a:r>
              <a:rPr lang="en-US" sz="1600" b="1" dirty="0">
                <a:solidFill>
                  <a:schemeClr val="tx1"/>
                </a:solidFill>
              </a:rPr>
              <a:t>가. 늘어난 수명</a:t>
            </a:r>
            <a:endParaRPr lang="en-US" sz="1600" dirty="0"/>
          </a:p>
        </p:txBody>
      </p:sp>
      <p:sp>
        <p:nvSpPr>
          <p:cNvPr id="4" name="forecast 115~120세"/>
          <p:cNvSpPr/>
          <p:nvPr/>
        </p:nvSpPr>
        <p:spPr>
          <a:xfrm>
            <a:off x="731520" y="2011680"/>
            <a:ext cx="3108960" cy="960120"/>
          </a:xfrm>
          <a:prstGeom prst="roundRect">
            <a:avLst>
              <a:gd name="adj" fmla="val 47619"/>
            </a:avLst>
          </a:prstGeom>
          <a:solidFill>
            <a:schemeClr val="accent1"/>
          </a:solidFill>
          <a:ln/>
        </p:spPr>
        <p:txBody>
          <a:bodyPr wrap="square" lIns="0" tIns="0" rIns="0" bIns="0" rtlCol="0" anchor="ctr"/>
          <a:lstStyle/>
          <a:p>
            <a:pPr algn="ctr" indent="0" marL="0">
              <a:buNone/>
            </a:pPr>
            <a:r>
              <a:rPr lang="en-US" sz="3600" b="1" dirty="0">
                <a:solidFill>
                  <a:schemeClr val="tx1"/>
                </a:solidFill>
              </a:rPr>
              <a:t>115~120세</a:t>
            </a:r>
            <a:endParaRPr lang="en-US" sz="3600" dirty="0"/>
          </a:p>
        </p:txBody>
      </p:sp>
      <p:sp>
        <p:nvSpPr>
          <p:cNvPr id="5" name="forecast source 1"/>
          <p:cNvSpPr txBox="1"/>
          <p:nvPr/>
        </p:nvSpPr>
        <p:spPr>
          <a:xfrm>
            <a:off x="4206240" y="2011680"/>
            <a:ext cx="7253935" cy="960120"/>
          </a:xfrm>
          <a:prstGeom prst="rect">
            <a:avLst/>
          </a:prstGeom>
          <a:noFill/>
          <a:ln/>
        </p:spPr>
        <p:txBody>
          <a:bodyPr wrap="square" lIns="0" tIns="0" rIns="0" bIns="0" rtlCol="0" anchor="ctr"/>
          <a:lstStyle/>
          <a:p>
            <a:pPr indent="0" marL="0">
              <a:buNone/>
            </a:pPr>
            <a:r>
              <a:rPr lang="en-US" sz="2600" b="1" dirty="0">
                <a:solidFill>
                  <a:schemeClr val="tx1"/>
                </a:solidFill>
              </a:rPr>
              <a:t>데이비드 매카시 교수</a:t>
            </a:r>
            <a:pPr indent="0" marL="0">
              <a:buNone/>
            </a:pPr>
            <a:r>
              <a:rPr lang="en-US" sz="2600" dirty="0">
                <a:solidFill>
                  <a:schemeClr val="tx1"/>
                </a:solidFill>
              </a:rPr>
              <a:t> · 일본의 기대수명 전망</a:t>
            </a:r>
            <a:endParaRPr lang="en-US" sz="2600" dirty="0"/>
          </a:p>
        </p:txBody>
      </p:sp>
      <p:sp>
        <p:nvSpPr>
          <p:cNvPr id="6" name="forecast 120세"/>
          <p:cNvSpPr/>
          <p:nvPr/>
        </p:nvSpPr>
        <p:spPr>
          <a:xfrm>
            <a:off x="731520" y="3337560"/>
            <a:ext cx="3108960" cy="960120"/>
          </a:xfrm>
          <a:prstGeom prst="roundRect">
            <a:avLst>
              <a:gd name="adj" fmla="val 47619"/>
            </a:avLst>
          </a:prstGeom>
          <a:solidFill>
            <a:schemeClr val="accent1"/>
          </a:solidFill>
          <a:ln/>
        </p:spPr>
        <p:txBody>
          <a:bodyPr wrap="square" lIns="0" tIns="0" rIns="0" bIns="0" rtlCol="0" anchor="ctr"/>
          <a:lstStyle/>
          <a:p>
            <a:pPr algn="ctr" indent="0" marL="0">
              <a:buNone/>
            </a:pPr>
            <a:r>
              <a:rPr lang="en-US" sz="3600" b="1" dirty="0">
                <a:solidFill>
                  <a:schemeClr val="tx1"/>
                </a:solidFill>
              </a:rPr>
              <a:t>120세</a:t>
            </a:r>
            <a:endParaRPr lang="en-US" sz="3600" dirty="0"/>
          </a:p>
        </p:txBody>
      </p:sp>
      <p:sp>
        <p:nvSpPr>
          <p:cNvPr id="7" name="forecast source 2"/>
          <p:cNvSpPr txBox="1"/>
          <p:nvPr/>
        </p:nvSpPr>
        <p:spPr>
          <a:xfrm>
            <a:off x="4206240" y="3337560"/>
            <a:ext cx="7253935" cy="960120"/>
          </a:xfrm>
          <a:prstGeom prst="rect">
            <a:avLst/>
          </a:prstGeom>
          <a:noFill/>
          <a:ln/>
        </p:spPr>
        <p:txBody>
          <a:bodyPr wrap="square" lIns="0" tIns="0" rIns="0" bIns="0" rtlCol="0" anchor="ctr"/>
          <a:lstStyle/>
          <a:p>
            <a:pPr indent="0" marL="0">
              <a:buNone/>
            </a:pPr>
            <a:r>
              <a:rPr lang="en-US" sz="2600" b="1" dirty="0">
                <a:solidFill>
                  <a:schemeClr val="tx1"/>
                </a:solidFill>
              </a:rPr>
              <a:t>윌리엄 슈워츠 박사</a:t>
            </a:r>
            <a:pPr indent="0" marL="0">
              <a:buNone/>
            </a:pPr>
            <a:r>
              <a:rPr lang="en-US" sz="2600" dirty="0">
                <a:solidFill>
                  <a:schemeClr val="tx1"/>
                </a:solidFill>
              </a:rPr>
              <a:t> · 평균수명 전망</a:t>
            </a:r>
            <a:endParaRPr lang="en-US" sz="2600" dirty="0"/>
          </a:p>
        </p:txBody>
      </p:sp>
      <p:sp>
        <p:nvSpPr>
          <p:cNvPr id="8" name="forecast 150세"/>
          <p:cNvSpPr/>
          <p:nvPr/>
        </p:nvSpPr>
        <p:spPr>
          <a:xfrm>
            <a:off x="731520" y="4663440"/>
            <a:ext cx="3108960" cy="960120"/>
          </a:xfrm>
          <a:prstGeom prst="roundRect">
            <a:avLst>
              <a:gd name="adj" fmla="val 47619"/>
            </a:avLst>
          </a:prstGeom>
          <a:solidFill>
            <a:schemeClr val="tx2"/>
          </a:solidFill>
          <a:ln/>
        </p:spPr>
        <p:txBody>
          <a:bodyPr wrap="square" lIns="0" tIns="0" rIns="0" bIns="0" rtlCol="0" anchor="ctr"/>
          <a:lstStyle/>
          <a:p>
            <a:pPr algn="ctr" indent="0" marL="0">
              <a:buNone/>
            </a:pPr>
            <a:r>
              <a:rPr lang="en-US" sz="3600" b="1" dirty="0">
                <a:solidFill>
                  <a:schemeClr val="accent1"/>
                </a:solidFill>
              </a:rPr>
              <a:t>150세</a:t>
            </a:r>
            <a:endParaRPr lang="en-US" sz="3600" dirty="0"/>
          </a:p>
        </p:txBody>
      </p:sp>
      <p:sp>
        <p:nvSpPr>
          <p:cNvPr id="9" name="forecast source 3"/>
          <p:cNvSpPr txBox="1"/>
          <p:nvPr/>
        </p:nvSpPr>
        <p:spPr>
          <a:xfrm>
            <a:off x="4206240" y="4663440"/>
            <a:ext cx="7253935" cy="960120"/>
          </a:xfrm>
          <a:prstGeom prst="rect">
            <a:avLst/>
          </a:prstGeom>
          <a:noFill/>
          <a:ln/>
        </p:spPr>
        <p:txBody>
          <a:bodyPr wrap="square" lIns="0" tIns="0" rIns="0" bIns="0" rtlCol="0" anchor="ctr"/>
          <a:lstStyle/>
          <a:p>
            <a:pPr indent="0" marL="0">
              <a:buNone/>
            </a:pPr>
            <a:r>
              <a:rPr lang="en-US" sz="2600" b="1" dirty="0">
                <a:solidFill>
                  <a:schemeClr val="tx1"/>
                </a:solidFill>
              </a:rPr>
              <a:t>국회미래연구원</a:t>
            </a:r>
            <a:pPr indent="0" marL="0">
              <a:buNone/>
            </a:pPr>
            <a:r>
              <a:rPr lang="en-US" sz="2600" dirty="0">
                <a:solidFill>
                  <a:schemeClr val="tx1"/>
                </a:solidFill>
              </a:rPr>
              <a:t> · 수명 연장 전망</a:t>
            </a:r>
            <a:endParaRPr lang="en-US" sz="2600" dirty="0"/>
          </a:p>
        </p:txBody>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lIns="0" tIns="0" rIns="0" bIns="0" rtlCol="0" anchor="ctr"/>
          <a:lstStyle/>
          <a:p>
            <a:pPr algn="l" indent="0" marL="0">
              <a:buNone/>
            </a:pPr>
            <a:r>
              <a:rPr lang="en-US" sz="3800" b="1" dirty="0">
                <a:solidFill>
                  <a:schemeClr val="tx1"/>
                </a:solidFill>
              </a:rPr>
              <a:t>120세 시대의 나이는 다릅니다</a:t>
            </a:r>
            <a:endParaRPr lang="en-US" sz="3800" dirty="0"/>
          </a:p>
        </p:txBody>
      </p:sp>
      <p:sp>
        <p:nvSpPr>
          <p:cNvPr id="3" name="section tag"/>
          <p:cNvSpPr/>
          <p:nvPr/>
        </p:nvSpPr>
        <p:spPr>
          <a:xfrm>
            <a:off x="731520" y="457200"/>
            <a:ext cx="1935480" cy="402336"/>
          </a:xfrm>
          <a:prstGeom prst="roundRect">
            <a:avLst>
              <a:gd name="adj" fmla="val 50000"/>
            </a:avLst>
          </a:prstGeom>
          <a:solidFill>
            <a:schemeClr val="accent5"/>
          </a:solidFill>
          <a:ln/>
        </p:spPr>
        <p:txBody>
          <a:bodyPr wrap="square" lIns="0" tIns="0" rIns="0" bIns="0" rtlCol="0" anchor="ctr"/>
          <a:lstStyle/>
          <a:p>
            <a:pPr algn="ctr" indent="0" marL="0">
              <a:buNone/>
            </a:pPr>
            <a:r>
              <a:rPr lang="en-US" sz="1600" b="1" dirty="0">
                <a:solidFill>
                  <a:schemeClr val="tx1"/>
                </a:solidFill>
              </a:rPr>
              <a:t>가. 늘어난 수명</a:t>
            </a:r>
            <a:endParaRPr lang="en-US" sz="1600" dirty="0"/>
          </a:p>
        </p:txBody>
      </p:sp>
      <p:sp>
        <p:nvSpPr>
          <p:cNvPr id="4" name="age axis"/>
          <p:cNvSpPr/>
          <p:nvPr/>
        </p:nvSpPr>
        <p:spPr>
          <a:xfrm>
            <a:off x="731520" y="3063240"/>
            <a:ext cx="10728655" cy="0"/>
          </a:xfrm>
          <a:prstGeom prst="line">
            <a:avLst/>
          </a:prstGeom>
          <a:noFill/>
          <a:ln w="38100">
            <a:solidFill>
              <a:schemeClr val="accent3"/>
            </a:solidFill>
            <a:prstDash val="solid"/>
          </a:ln>
        </p:spPr>
      </p:sp>
      <p:sp>
        <p:nvSpPr>
          <p:cNvPr id="5" name="age 0"/>
          <p:cNvSpPr txBox="1"/>
          <p:nvPr/>
        </p:nvSpPr>
        <p:spPr>
          <a:xfrm>
            <a:off x="731520" y="3291840"/>
            <a:ext cx="822960" cy="365760"/>
          </a:xfrm>
          <a:prstGeom prst="rect">
            <a:avLst/>
          </a:prstGeom>
          <a:noFill/>
          <a:ln/>
        </p:spPr>
        <p:txBody>
          <a:bodyPr wrap="square" lIns="0" tIns="0" rIns="0" bIns="0" rtlCol="0" anchor="ctr"/>
          <a:lstStyle/>
          <a:p>
            <a:pPr indent="0" marL="0">
              <a:buNone/>
            </a:pPr>
            <a:r>
              <a:rPr lang="en-US" sz="1600" dirty="0">
                <a:solidFill>
                  <a:schemeClr val="accent2"/>
                </a:solidFill>
              </a:rPr>
              <a:t>0세</a:t>
            </a:r>
            <a:endParaRPr lang="en-US" sz="1600" dirty="0"/>
          </a:p>
        </p:txBody>
      </p:sp>
      <p:sp>
        <p:nvSpPr>
          <p:cNvPr id="6" name="age 120"/>
          <p:cNvSpPr txBox="1"/>
          <p:nvPr/>
        </p:nvSpPr>
        <p:spPr>
          <a:xfrm>
            <a:off x="10545775" y="3291840"/>
            <a:ext cx="914400" cy="365760"/>
          </a:xfrm>
          <a:prstGeom prst="rect">
            <a:avLst/>
          </a:prstGeom>
          <a:noFill/>
          <a:ln/>
        </p:spPr>
        <p:txBody>
          <a:bodyPr wrap="square" lIns="0" tIns="0" rIns="0" bIns="0" rtlCol="0" anchor="ctr"/>
          <a:lstStyle/>
          <a:p>
            <a:pPr algn="r" indent="0" marL="0">
              <a:buNone/>
            </a:pPr>
            <a:r>
              <a:rPr lang="en-US" sz="1600" dirty="0">
                <a:solidFill>
                  <a:schemeClr val="accent2"/>
                </a:solidFill>
              </a:rPr>
              <a:t>120세</a:t>
            </a:r>
            <a:endParaRPr lang="en-US" sz="1600" dirty="0"/>
          </a:p>
        </p:txBody>
      </p:sp>
      <p:sp>
        <p:nvSpPr>
          <p:cNvPr id="7" name="age 30 coin"/>
          <p:cNvSpPr/>
          <p:nvPr/>
        </p:nvSpPr>
        <p:spPr>
          <a:xfrm>
            <a:off x="2887904" y="2537460"/>
            <a:ext cx="1051560" cy="1051560"/>
          </a:xfrm>
          <a:prstGeom prst="ellipse">
            <a:avLst/>
          </a:prstGeom>
          <a:solidFill>
            <a:schemeClr val="accent5"/>
          </a:solidFill>
          <a:ln/>
        </p:spPr>
      </p:sp>
      <p:sp>
        <p:nvSpPr>
          <p:cNvPr id="8" name="age 30 text"/>
          <p:cNvSpPr txBox="1"/>
          <p:nvPr/>
        </p:nvSpPr>
        <p:spPr>
          <a:xfrm>
            <a:off x="2887904" y="2537460"/>
            <a:ext cx="1051560" cy="1051560"/>
          </a:xfrm>
          <a:prstGeom prst="rect">
            <a:avLst/>
          </a:prstGeom>
          <a:noFill/>
          <a:ln/>
        </p:spPr>
        <p:txBody>
          <a:bodyPr wrap="square" lIns="0" tIns="0" rIns="0" bIns="0" rtlCol="0" anchor="ctr"/>
          <a:lstStyle/>
          <a:p>
            <a:pPr algn="ctr" indent="0" marL="0">
              <a:buNone/>
            </a:pPr>
            <a:r>
              <a:rPr lang="en-US" sz="2200" b="1" dirty="0">
                <a:solidFill>
                  <a:schemeClr val="tx1"/>
                </a:solidFill>
              </a:rPr>
              <a:t>30세</a:t>
            </a:r>
            <a:endParaRPr lang="en-US" sz="2200" dirty="0"/>
          </a:p>
        </p:txBody>
      </p:sp>
      <p:sp>
        <p:nvSpPr>
          <p:cNvPr id="9" name="age label 30"/>
          <p:cNvSpPr txBox="1"/>
          <p:nvPr/>
        </p:nvSpPr>
        <p:spPr>
          <a:xfrm>
            <a:off x="2316404" y="3749040"/>
            <a:ext cx="2194560" cy="548640"/>
          </a:xfrm>
          <a:prstGeom prst="rect">
            <a:avLst/>
          </a:prstGeom>
          <a:noFill/>
          <a:ln/>
        </p:spPr>
        <p:txBody>
          <a:bodyPr wrap="square" lIns="0" tIns="0" rIns="0" bIns="0" rtlCol="0" anchor="ctr"/>
          <a:lstStyle/>
          <a:p>
            <a:pPr algn="ctr" indent="0" marL="0">
              <a:buNone/>
            </a:pPr>
            <a:r>
              <a:rPr lang="en-US" sz="2600" b="1" dirty="0">
                <a:solidFill>
                  <a:schemeClr val="tx1"/>
                </a:solidFill>
              </a:rPr>
              <a:t>청소년</a:t>
            </a:r>
            <a:endParaRPr lang="en-US" sz="2600" dirty="0"/>
          </a:p>
        </p:txBody>
      </p:sp>
      <p:sp>
        <p:nvSpPr>
          <p:cNvPr id="10" name="age 60 coin"/>
          <p:cNvSpPr/>
          <p:nvPr/>
        </p:nvSpPr>
        <p:spPr>
          <a:xfrm>
            <a:off x="5570068" y="2537460"/>
            <a:ext cx="1051560" cy="1051560"/>
          </a:xfrm>
          <a:prstGeom prst="ellipse">
            <a:avLst/>
          </a:prstGeom>
          <a:solidFill>
            <a:schemeClr val="accent1"/>
          </a:solidFill>
          <a:ln/>
        </p:spPr>
      </p:sp>
      <p:sp>
        <p:nvSpPr>
          <p:cNvPr id="11" name="age 60 text"/>
          <p:cNvSpPr txBox="1"/>
          <p:nvPr/>
        </p:nvSpPr>
        <p:spPr>
          <a:xfrm>
            <a:off x="5570068" y="2537460"/>
            <a:ext cx="1051560" cy="1051560"/>
          </a:xfrm>
          <a:prstGeom prst="rect">
            <a:avLst/>
          </a:prstGeom>
          <a:noFill/>
          <a:ln/>
        </p:spPr>
        <p:txBody>
          <a:bodyPr wrap="square" lIns="0" tIns="0" rIns="0" bIns="0" rtlCol="0" anchor="ctr"/>
          <a:lstStyle/>
          <a:p>
            <a:pPr algn="ctr" indent="0" marL="0">
              <a:buNone/>
            </a:pPr>
            <a:r>
              <a:rPr lang="en-US" sz="2200" b="1" dirty="0">
                <a:solidFill>
                  <a:schemeClr val="tx1"/>
                </a:solidFill>
              </a:rPr>
              <a:t>60세</a:t>
            </a:r>
            <a:endParaRPr lang="en-US" sz="2200" dirty="0"/>
          </a:p>
        </p:txBody>
      </p:sp>
      <p:sp>
        <p:nvSpPr>
          <p:cNvPr id="12" name="age label 60"/>
          <p:cNvSpPr txBox="1"/>
          <p:nvPr/>
        </p:nvSpPr>
        <p:spPr>
          <a:xfrm>
            <a:off x="4998568" y="3749040"/>
            <a:ext cx="2194560" cy="548640"/>
          </a:xfrm>
          <a:prstGeom prst="rect">
            <a:avLst/>
          </a:prstGeom>
          <a:noFill/>
          <a:ln/>
        </p:spPr>
        <p:txBody>
          <a:bodyPr wrap="square" lIns="0" tIns="0" rIns="0" bIns="0" rtlCol="0" anchor="ctr"/>
          <a:lstStyle/>
          <a:p>
            <a:pPr algn="ctr" indent="0" marL="0">
              <a:buNone/>
            </a:pPr>
            <a:r>
              <a:rPr lang="en-US" sz="2600" b="1" dirty="0">
                <a:solidFill>
                  <a:schemeClr val="tx1"/>
                </a:solidFill>
              </a:rPr>
              <a:t>청년</a:t>
            </a:r>
            <a:endParaRPr lang="en-US" sz="2600" dirty="0"/>
          </a:p>
        </p:txBody>
      </p:sp>
      <p:sp>
        <p:nvSpPr>
          <p:cNvPr id="13" name="age 80 coin"/>
          <p:cNvSpPr/>
          <p:nvPr/>
        </p:nvSpPr>
        <p:spPr>
          <a:xfrm>
            <a:off x="7358177" y="2537460"/>
            <a:ext cx="1051560" cy="1051560"/>
          </a:xfrm>
          <a:prstGeom prst="ellipse">
            <a:avLst/>
          </a:prstGeom>
          <a:solidFill>
            <a:schemeClr val="accent1"/>
          </a:solidFill>
          <a:ln/>
        </p:spPr>
      </p:sp>
      <p:sp>
        <p:nvSpPr>
          <p:cNvPr id="14" name="age 80 text"/>
          <p:cNvSpPr txBox="1"/>
          <p:nvPr/>
        </p:nvSpPr>
        <p:spPr>
          <a:xfrm>
            <a:off x="7358177" y="2537460"/>
            <a:ext cx="1051560" cy="1051560"/>
          </a:xfrm>
          <a:prstGeom prst="rect">
            <a:avLst/>
          </a:prstGeom>
          <a:noFill/>
          <a:ln/>
        </p:spPr>
        <p:txBody>
          <a:bodyPr wrap="square" lIns="0" tIns="0" rIns="0" bIns="0" rtlCol="0" anchor="ctr"/>
          <a:lstStyle/>
          <a:p>
            <a:pPr algn="ctr" indent="0" marL="0">
              <a:buNone/>
            </a:pPr>
            <a:r>
              <a:rPr lang="en-US" sz="2200" b="1" dirty="0">
                <a:solidFill>
                  <a:schemeClr val="tx1"/>
                </a:solidFill>
              </a:rPr>
              <a:t>80세</a:t>
            </a:r>
            <a:endParaRPr lang="en-US" sz="2200" dirty="0"/>
          </a:p>
        </p:txBody>
      </p:sp>
      <p:sp>
        <p:nvSpPr>
          <p:cNvPr id="15" name="age label 80"/>
          <p:cNvSpPr txBox="1"/>
          <p:nvPr/>
        </p:nvSpPr>
        <p:spPr>
          <a:xfrm>
            <a:off x="6786677" y="3749040"/>
            <a:ext cx="2194560" cy="548640"/>
          </a:xfrm>
          <a:prstGeom prst="rect">
            <a:avLst/>
          </a:prstGeom>
          <a:noFill/>
          <a:ln/>
        </p:spPr>
        <p:txBody>
          <a:bodyPr wrap="square" lIns="0" tIns="0" rIns="0" bIns="0" rtlCol="0" anchor="ctr"/>
          <a:lstStyle/>
          <a:p>
            <a:pPr algn="ctr" indent="0" marL="0">
              <a:buNone/>
            </a:pPr>
            <a:r>
              <a:rPr lang="en-US" sz="2600" b="1" dirty="0">
                <a:solidFill>
                  <a:schemeClr val="tx1"/>
                </a:solidFill>
              </a:rPr>
              <a:t>장년</a:t>
            </a:r>
            <a:endParaRPr lang="en-US" sz="2600" dirty="0"/>
          </a:p>
        </p:txBody>
      </p:sp>
      <p:sp>
        <p:nvSpPr>
          <p:cNvPr id="16" name="age 100 coin"/>
          <p:cNvSpPr/>
          <p:nvPr/>
        </p:nvSpPr>
        <p:spPr>
          <a:xfrm>
            <a:off x="9146286" y="2537460"/>
            <a:ext cx="1051560" cy="1051560"/>
          </a:xfrm>
          <a:prstGeom prst="ellipse">
            <a:avLst/>
          </a:prstGeom>
          <a:solidFill>
            <a:schemeClr val="tx2"/>
          </a:solidFill>
          <a:ln/>
        </p:spPr>
      </p:sp>
      <p:sp>
        <p:nvSpPr>
          <p:cNvPr id="17" name="age 100 text"/>
          <p:cNvSpPr txBox="1"/>
          <p:nvPr/>
        </p:nvSpPr>
        <p:spPr>
          <a:xfrm>
            <a:off x="9146286" y="2537460"/>
            <a:ext cx="1051560" cy="1051560"/>
          </a:xfrm>
          <a:prstGeom prst="rect">
            <a:avLst/>
          </a:prstGeom>
          <a:noFill/>
          <a:ln/>
        </p:spPr>
        <p:txBody>
          <a:bodyPr wrap="square" lIns="0" tIns="0" rIns="0" bIns="0" rtlCol="0" anchor="ctr"/>
          <a:lstStyle/>
          <a:p>
            <a:pPr algn="ctr" indent="0" marL="0">
              <a:buNone/>
            </a:pPr>
            <a:r>
              <a:rPr lang="en-US" sz="2200" b="1" dirty="0">
                <a:solidFill>
                  <a:schemeClr val="accent1"/>
                </a:solidFill>
              </a:rPr>
              <a:t>100세</a:t>
            </a:r>
            <a:endParaRPr lang="en-US" sz="2200" dirty="0"/>
          </a:p>
        </p:txBody>
      </p:sp>
      <p:sp>
        <p:nvSpPr>
          <p:cNvPr id="18" name="age label 100"/>
          <p:cNvSpPr txBox="1"/>
          <p:nvPr/>
        </p:nvSpPr>
        <p:spPr>
          <a:xfrm>
            <a:off x="8574786" y="3749040"/>
            <a:ext cx="2194560" cy="548640"/>
          </a:xfrm>
          <a:prstGeom prst="rect">
            <a:avLst/>
          </a:prstGeom>
          <a:noFill/>
          <a:ln/>
        </p:spPr>
        <p:txBody>
          <a:bodyPr wrap="square" lIns="0" tIns="0" rIns="0" bIns="0" rtlCol="0" anchor="ctr"/>
          <a:lstStyle/>
          <a:p>
            <a:pPr algn="ctr" indent="0" marL="0">
              <a:buNone/>
            </a:pPr>
            <a:r>
              <a:rPr lang="en-US" sz="2600" b="1" dirty="0">
                <a:solidFill>
                  <a:schemeClr val="tx1"/>
                </a:solidFill>
              </a:rPr>
              <a:t>노인</a:t>
            </a:r>
            <a:endParaRPr lang="en-US" sz="2600" dirty="0"/>
          </a:p>
        </p:txBody>
      </p:sp>
      <p:sp>
        <p:nvSpPr>
          <p:cNvPr id="19" name="message"/>
          <p:cNvSpPr txBox="1"/>
          <p:nvPr/>
        </p:nvSpPr>
        <p:spPr>
          <a:xfrm>
            <a:off x="731520" y="5074920"/>
            <a:ext cx="10728655" cy="594360"/>
          </a:xfrm>
          <a:prstGeom prst="rect">
            <a:avLst/>
          </a:prstGeom>
          <a:noFill/>
          <a:ln/>
        </p:spPr>
        <p:txBody>
          <a:bodyPr wrap="square" lIns="0" tIns="0" rIns="0" bIns="0" rtlCol="0" anchor="ctr"/>
          <a:lstStyle/>
          <a:p>
            <a:pPr indent="0" marL="0">
              <a:buNone/>
            </a:pPr>
            <a:r>
              <a:rPr lang="en-US" sz="2600" dirty="0">
                <a:solidFill>
                  <a:schemeClr val="tx1"/>
                </a:solidFill>
              </a:rPr>
              <a:t>우리 사회는 아직 120세에 맞춰져 있지 않습니다</a:t>
            </a:r>
            <a:endParaRPr lang="en-US" sz="2600" dirty="0"/>
          </a:p>
        </p:txBody>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lIns="0" tIns="0" rIns="0" bIns="0" rtlCol="0" anchor="ctr"/>
          <a:lstStyle/>
          <a:p>
            <a:pPr algn="l" indent="0" marL="0">
              <a:buNone/>
            </a:pPr>
            <a:r>
              <a:rPr lang="en-US" sz="3800" b="1" dirty="0">
                <a:solidFill>
                  <a:schemeClr val="tx1"/>
                </a:solidFill>
              </a:rPr>
              <a:t>35년 벌어서 55년을 삽니다</a:t>
            </a:r>
            <a:endParaRPr lang="en-US" sz="3800" dirty="0"/>
          </a:p>
        </p:txBody>
      </p:sp>
      <p:sp>
        <p:nvSpPr>
          <p:cNvPr id="3" name="section tag"/>
          <p:cNvSpPr/>
          <p:nvPr/>
        </p:nvSpPr>
        <p:spPr>
          <a:xfrm>
            <a:off x="731520" y="457200"/>
            <a:ext cx="1935480" cy="402336"/>
          </a:xfrm>
          <a:prstGeom prst="roundRect">
            <a:avLst>
              <a:gd name="adj" fmla="val 50000"/>
            </a:avLst>
          </a:prstGeom>
          <a:solidFill>
            <a:schemeClr val="accent5"/>
          </a:solidFill>
          <a:ln/>
        </p:spPr>
        <p:txBody>
          <a:bodyPr wrap="square" lIns="0" tIns="0" rIns="0" bIns="0" rtlCol="0" anchor="ctr"/>
          <a:lstStyle/>
          <a:p>
            <a:pPr algn="ctr" indent="0" marL="0">
              <a:buNone/>
            </a:pPr>
            <a:r>
              <a:rPr lang="en-US" sz="1600" b="1" dirty="0">
                <a:solidFill>
                  <a:schemeClr val="tx1"/>
                </a:solidFill>
              </a:rPr>
              <a:t>가. 늘어난 수명</a:t>
            </a:r>
            <a:endParaRPr lang="en-US" sz="1600" dirty="0"/>
          </a:p>
        </p:txBody>
      </p:sp>
      <p:sp>
        <p:nvSpPr>
          <p:cNvPr id="4" name="timeline 배우는 30년"/>
          <p:cNvSpPr/>
          <p:nvPr/>
        </p:nvSpPr>
        <p:spPr>
          <a:xfrm>
            <a:off x="731520" y="2148840"/>
            <a:ext cx="2636444" cy="1371600"/>
          </a:xfrm>
          <a:prstGeom prst="rect">
            <a:avLst/>
          </a:prstGeom>
          <a:solidFill>
            <a:schemeClr val="bg2"/>
          </a:solidFill>
          <a:ln/>
        </p:spPr>
        <p:txBody>
          <a:bodyPr wrap="square" lIns="0" tIns="0" rIns="0" bIns="0" rtlCol="0" anchor="ctr"/>
          <a:lstStyle/>
          <a:p>
            <a:pPr algn="ctr" indent="0" marL="0">
              <a:buNone/>
            </a:pPr>
            <a:r>
              <a:rPr lang="en-US" sz="2400" b="1" dirty="0">
                <a:solidFill>
                  <a:schemeClr val="tx1"/>
                </a:solidFill>
              </a:rPr>
              <a:t>배우는 30년</a:t>
            </a:r>
            <a:endParaRPr lang="en-US" sz="2400" dirty="0"/>
          </a:p>
        </p:txBody>
      </p:sp>
      <p:sp>
        <p:nvSpPr>
          <p:cNvPr id="5" name="timeline 일하는 35년"/>
          <p:cNvSpPr/>
          <p:nvPr/>
        </p:nvSpPr>
        <p:spPr>
          <a:xfrm>
            <a:off x="3413684" y="2148840"/>
            <a:ext cx="3083471" cy="1371600"/>
          </a:xfrm>
          <a:prstGeom prst="rect">
            <a:avLst/>
          </a:prstGeom>
          <a:solidFill>
            <a:schemeClr val="tx2"/>
          </a:solidFill>
          <a:ln/>
        </p:spPr>
        <p:txBody>
          <a:bodyPr wrap="square" lIns="0" tIns="0" rIns="0" bIns="0" rtlCol="0" anchor="ctr"/>
          <a:lstStyle/>
          <a:p>
            <a:pPr algn="ctr" indent="0" marL="0">
              <a:buNone/>
            </a:pPr>
            <a:r>
              <a:rPr lang="en-US" sz="2400" b="1" dirty="0">
                <a:solidFill>
                  <a:schemeClr val="bg1"/>
                </a:solidFill>
              </a:rPr>
              <a:t>일하는 35년</a:t>
            </a:r>
            <a:endParaRPr lang="en-US" sz="2400" dirty="0"/>
          </a:p>
        </p:txBody>
      </p:sp>
      <p:sp>
        <p:nvSpPr>
          <p:cNvPr id="6" name="timeline 모은 돈으로 사는 55년"/>
          <p:cNvSpPr/>
          <p:nvPr/>
        </p:nvSpPr>
        <p:spPr>
          <a:xfrm>
            <a:off x="6542875" y="2148840"/>
            <a:ext cx="4871580" cy="1371600"/>
          </a:xfrm>
          <a:prstGeom prst="rect">
            <a:avLst/>
          </a:prstGeom>
          <a:solidFill>
            <a:schemeClr val="accent1"/>
          </a:solidFill>
          <a:ln/>
        </p:spPr>
        <p:txBody>
          <a:bodyPr wrap="square" lIns="0" tIns="0" rIns="0" bIns="0" rtlCol="0" anchor="ctr"/>
          <a:lstStyle/>
          <a:p>
            <a:pPr algn="ctr" indent="0" marL="0">
              <a:buNone/>
            </a:pPr>
            <a:r>
              <a:rPr lang="en-US" sz="2400" b="1" dirty="0">
                <a:solidFill>
                  <a:schemeClr val="tx1"/>
                </a:solidFill>
              </a:rPr>
              <a:t>모은 돈으로 사는 55년</a:t>
            </a:r>
            <a:endParaRPr lang="en-US" sz="2400" dirty="0"/>
          </a:p>
        </p:txBody>
      </p:sp>
      <p:sp>
        <p:nvSpPr>
          <p:cNvPr id="7" name="tick 0"/>
          <p:cNvSpPr txBox="1"/>
          <p:nvPr/>
        </p:nvSpPr>
        <p:spPr>
          <a:xfrm>
            <a:off x="731520" y="3657600"/>
            <a:ext cx="1280160" cy="457200"/>
          </a:xfrm>
          <a:prstGeom prst="rect">
            <a:avLst/>
          </a:prstGeom>
          <a:noFill/>
          <a:ln/>
        </p:spPr>
        <p:txBody>
          <a:bodyPr wrap="square" lIns="0" tIns="0" rIns="0" bIns="0" rtlCol="0" anchor="ctr"/>
          <a:lstStyle/>
          <a:p>
            <a:pPr algn="l" indent="0" marL="0">
              <a:buNone/>
            </a:pPr>
            <a:r>
              <a:rPr lang="en-US" sz="2000" dirty="0">
                <a:solidFill>
                  <a:schemeClr val="accent2"/>
                </a:solidFill>
              </a:rPr>
              <a:t>0세</a:t>
            </a:r>
            <a:endParaRPr lang="en-US" sz="2000" dirty="0"/>
          </a:p>
        </p:txBody>
      </p:sp>
      <p:sp>
        <p:nvSpPr>
          <p:cNvPr id="8" name="tick 30"/>
          <p:cNvSpPr txBox="1"/>
          <p:nvPr/>
        </p:nvSpPr>
        <p:spPr>
          <a:xfrm>
            <a:off x="2773604" y="3657600"/>
            <a:ext cx="1280160" cy="457200"/>
          </a:xfrm>
          <a:prstGeom prst="rect">
            <a:avLst/>
          </a:prstGeom>
          <a:noFill/>
          <a:ln/>
        </p:spPr>
        <p:txBody>
          <a:bodyPr wrap="square" lIns="0" tIns="0" rIns="0" bIns="0" rtlCol="0" anchor="ctr"/>
          <a:lstStyle/>
          <a:p>
            <a:pPr algn="ctr" indent="0" marL="0">
              <a:buNone/>
            </a:pPr>
            <a:r>
              <a:rPr lang="en-US" sz="2000" dirty="0">
                <a:solidFill>
                  <a:schemeClr val="accent2"/>
                </a:solidFill>
              </a:rPr>
              <a:t>30세</a:t>
            </a:r>
            <a:endParaRPr lang="en-US" sz="2000" dirty="0"/>
          </a:p>
        </p:txBody>
      </p:sp>
      <p:sp>
        <p:nvSpPr>
          <p:cNvPr id="9" name="tick 65"/>
          <p:cNvSpPr txBox="1"/>
          <p:nvPr/>
        </p:nvSpPr>
        <p:spPr>
          <a:xfrm>
            <a:off x="5902795" y="3657600"/>
            <a:ext cx="1280160" cy="457200"/>
          </a:xfrm>
          <a:prstGeom prst="rect">
            <a:avLst/>
          </a:prstGeom>
          <a:noFill/>
          <a:ln/>
        </p:spPr>
        <p:txBody>
          <a:bodyPr wrap="square" lIns="0" tIns="0" rIns="0" bIns="0" rtlCol="0" anchor="ctr"/>
          <a:lstStyle/>
          <a:p>
            <a:pPr algn="ctr" indent="0" marL="0">
              <a:buNone/>
            </a:pPr>
            <a:r>
              <a:rPr lang="en-US" sz="2000" dirty="0">
                <a:solidFill>
                  <a:schemeClr val="accent2"/>
                </a:solidFill>
              </a:rPr>
              <a:t>65세</a:t>
            </a:r>
            <a:endParaRPr lang="en-US" sz="2000" dirty="0"/>
          </a:p>
        </p:txBody>
      </p:sp>
      <p:sp>
        <p:nvSpPr>
          <p:cNvPr id="10" name="tick 120"/>
          <p:cNvSpPr txBox="1"/>
          <p:nvPr/>
        </p:nvSpPr>
        <p:spPr>
          <a:xfrm>
            <a:off x="10180015" y="3657600"/>
            <a:ext cx="1280160" cy="457200"/>
          </a:xfrm>
          <a:prstGeom prst="rect">
            <a:avLst/>
          </a:prstGeom>
          <a:noFill/>
          <a:ln/>
        </p:spPr>
        <p:txBody>
          <a:bodyPr wrap="square" lIns="0" tIns="0" rIns="0" bIns="0" rtlCol="0" anchor="ctr"/>
          <a:lstStyle/>
          <a:p>
            <a:pPr algn="r" indent="0" marL="0">
              <a:buNone/>
            </a:pPr>
            <a:r>
              <a:rPr lang="en-US" sz="2000" dirty="0">
                <a:solidFill>
                  <a:schemeClr val="accent2"/>
                </a:solidFill>
              </a:rPr>
              <a:t>120세</a:t>
            </a:r>
            <a:endParaRPr lang="en-US" sz="2000" dirty="0"/>
          </a:p>
        </p:txBody>
      </p:sp>
      <p:sp>
        <p:nvSpPr>
          <p:cNvPr id="11" name="message"/>
          <p:cNvSpPr txBox="1"/>
          <p:nvPr/>
        </p:nvSpPr>
        <p:spPr>
          <a:xfrm>
            <a:off x="731520" y="4892040"/>
            <a:ext cx="10728655" cy="594360"/>
          </a:xfrm>
          <a:prstGeom prst="rect">
            <a:avLst/>
          </a:prstGeom>
          <a:noFill/>
          <a:ln/>
        </p:spPr>
        <p:txBody>
          <a:bodyPr wrap="square" lIns="0" tIns="0" rIns="0" bIns="0" rtlCol="0" anchor="ctr"/>
          <a:lstStyle/>
          <a:p>
            <a:pPr indent="0" marL="0">
              <a:buNone/>
            </a:pPr>
            <a:r>
              <a:rPr lang="en-US" sz="2600" dirty="0">
                <a:solidFill>
                  <a:schemeClr val="tx1"/>
                </a:solidFill>
              </a:rPr>
              <a:t>65세 이후 55년을, 일할 때 모은 돈으로 살아야 합니다</a:t>
            </a:r>
            <a:endParaRPr lang="en-US" sz="2600" dirty="0"/>
          </a:p>
        </p:txBody>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lIns="0" tIns="0" rIns="0" bIns="0" rtlCol="0" anchor="ctr"/>
          <a:lstStyle/>
          <a:p>
            <a:pPr algn="l" indent="0" marL="0">
              <a:buNone/>
            </a:pPr>
            <a:r>
              <a:rPr lang="en-US" sz="3800" b="1" dirty="0">
                <a:solidFill>
                  <a:schemeClr val="tx1"/>
                </a:solidFill>
              </a:rPr>
              <a:t>퇴직한 뒤에도 쉬기 어렵습니다</a:t>
            </a:r>
            <a:endParaRPr lang="en-US" sz="3800" dirty="0"/>
          </a:p>
        </p:txBody>
      </p:sp>
      <p:sp>
        <p:nvSpPr>
          <p:cNvPr id="3" name="section tag"/>
          <p:cNvSpPr/>
          <p:nvPr/>
        </p:nvSpPr>
        <p:spPr>
          <a:xfrm>
            <a:off x="731520" y="457200"/>
            <a:ext cx="1935480" cy="402336"/>
          </a:xfrm>
          <a:prstGeom prst="roundRect">
            <a:avLst>
              <a:gd name="adj" fmla="val 50000"/>
            </a:avLst>
          </a:prstGeom>
          <a:solidFill>
            <a:schemeClr val="accent5"/>
          </a:solidFill>
          <a:ln/>
        </p:spPr>
        <p:txBody>
          <a:bodyPr wrap="square" lIns="0" tIns="0" rIns="0" bIns="0" rtlCol="0" anchor="ctr"/>
          <a:lstStyle/>
          <a:p>
            <a:pPr algn="ctr" indent="0" marL="0">
              <a:buNone/>
            </a:pPr>
            <a:r>
              <a:rPr lang="en-US" sz="1600" b="1" dirty="0">
                <a:solidFill>
                  <a:schemeClr val="tx1"/>
                </a:solidFill>
              </a:rPr>
              <a:t>가. 늘어난 수명</a:t>
            </a:r>
            <a:endParaRPr lang="en-US" sz="1600" dirty="0"/>
          </a:p>
        </p:txBody>
      </p:sp>
      <p:sp>
        <p:nvSpPr>
          <p:cNvPr id="4" name="stat 실제 은퇴 나이"/>
          <p:cNvSpPr/>
          <p:nvPr/>
        </p:nvSpPr>
        <p:spPr>
          <a:xfrm>
            <a:off x="731520" y="2011680"/>
            <a:ext cx="3332378" cy="2697480"/>
          </a:xfrm>
          <a:prstGeom prst="roundRect">
            <a:avLst>
              <a:gd name="adj" fmla="val 5424"/>
            </a:avLst>
          </a:prstGeom>
          <a:solidFill>
            <a:schemeClr val="bg2"/>
          </a:solidFill>
          <a:ln/>
        </p:spPr>
      </p:sp>
      <p:sp>
        <p:nvSpPr>
          <p:cNvPr id="5" name="stat value 실제 은퇴 나이"/>
          <p:cNvSpPr txBox="1"/>
          <p:nvPr/>
        </p:nvSpPr>
        <p:spPr>
          <a:xfrm>
            <a:off x="731520" y="2286000"/>
            <a:ext cx="3332378" cy="1280160"/>
          </a:xfrm>
          <a:prstGeom prst="rect">
            <a:avLst/>
          </a:prstGeom>
          <a:noFill/>
          <a:ln/>
        </p:spPr>
        <p:txBody>
          <a:bodyPr wrap="square" lIns="0" tIns="0" rIns="0" bIns="0" rtlCol="0" anchor="ctr"/>
          <a:lstStyle/>
          <a:p>
            <a:pPr algn="ctr" indent="0" marL="0">
              <a:buNone/>
            </a:pPr>
            <a:r>
              <a:rPr lang="en-US" sz="6000" b="1" dirty="0">
                <a:solidFill>
                  <a:schemeClr val="tx1"/>
                </a:solidFill>
              </a:rPr>
              <a:t>72.3세</a:t>
            </a:r>
            <a:endParaRPr lang="en-US" sz="6000" dirty="0"/>
          </a:p>
        </p:txBody>
      </p:sp>
      <p:sp>
        <p:nvSpPr>
          <p:cNvPr id="6" name="stat label 실제 은퇴 나이"/>
          <p:cNvSpPr txBox="1"/>
          <p:nvPr/>
        </p:nvSpPr>
        <p:spPr>
          <a:xfrm>
            <a:off x="731520" y="3703320"/>
            <a:ext cx="3332378" cy="548640"/>
          </a:xfrm>
          <a:prstGeom prst="rect">
            <a:avLst/>
          </a:prstGeom>
          <a:noFill/>
          <a:ln/>
        </p:spPr>
        <p:txBody>
          <a:bodyPr wrap="square" lIns="0" tIns="0" rIns="0" bIns="0" rtlCol="0" anchor="ctr"/>
          <a:lstStyle/>
          <a:p>
            <a:pPr algn="ctr" indent="0" marL="0">
              <a:buNone/>
            </a:pPr>
            <a:r>
              <a:rPr lang="en-US" sz="2400" b="1" dirty="0">
                <a:solidFill>
                  <a:schemeClr val="tx1"/>
                </a:solidFill>
              </a:rPr>
              <a:t>실제 은퇴 나이</a:t>
            </a:r>
            <a:endParaRPr lang="en-US" sz="2400" dirty="0"/>
          </a:p>
        </p:txBody>
      </p:sp>
      <p:sp>
        <p:nvSpPr>
          <p:cNvPr id="7" name="stat 노인 자살률"/>
          <p:cNvSpPr/>
          <p:nvPr/>
        </p:nvSpPr>
        <p:spPr>
          <a:xfrm>
            <a:off x="4429658" y="2011680"/>
            <a:ext cx="3332378" cy="2697480"/>
          </a:xfrm>
          <a:prstGeom prst="roundRect">
            <a:avLst>
              <a:gd name="adj" fmla="val 5424"/>
            </a:avLst>
          </a:prstGeom>
          <a:solidFill>
            <a:schemeClr val="bg2"/>
          </a:solidFill>
          <a:ln/>
        </p:spPr>
      </p:sp>
      <p:sp>
        <p:nvSpPr>
          <p:cNvPr id="8" name="stat value 노인 자살률"/>
          <p:cNvSpPr txBox="1"/>
          <p:nvPr/>
        </p:nvSpPr>
        <p:spPr>
          <a:xfrm>
            <a:off x="4429658" y="2286000"/>
            <a:ext cx="3332378" cy="1280160"/>
          </a:xfrm>
          <a:prstGeom prst="rect">
            <a:avLst/>
          </a:prstGeom>
          <a:noFill/>
          <a:ln/>
        </p:spPr>
        <p:txBody>
          <a:bodyPr wrap="square" lIns="0" tIns="0" rIns="0" bIns="0" rtlCol="0" anchor="ctr"/>
          <a:lstStyle/>
          <a:p>
            <a:pPr algn="ctr" indent="0" marL="0">
              <a:buNone/>
            </a:pPr>
            <a:r>
              <a:rPr lang="en-US" sz="6000" b="1" dirty="0">
                <a:solidFill>
                  <a:schemeClr val="accent4"/>
                </a:solidFill>
              </a:rPr>
              <a:t>1위</a:t>
            </a:r>
            <a:endParaRPr lang="en-US" sz="6000" dirty="0"/>
          </a:p>
        </p:txBody>
      </p:sp>
      <p:sp>
        <p:nvSpPr>
          <p:cNvPr id="9" name="stat label 노인 자살률"/>
          <p:cNvSpPr txBox="1"/>
          <p:nvPr/>
        </p:nvSpPr>
        <p:spPr>
          <a:xfrm>
            <a:off x="4429658" y="3703320"/>
            <a:ext cx="3332378" cy="548640"/>
          </a:xfrm>
          <a:prstGeom prst="rect">
            <a:avLst/>
          </a:prstGeom>
          <a:noFill/>
          <a:ln/>
        </p:spPr>
        <p:txBody>
          <a:bodyPr wrap="square" lIns="0" tIns="0" rIns="0" bIns="0" rtlCol="0" anchor="ctr"/>
          <a:lstStyle/>
          <a:p>
            <a:pPr algn="ctr" indent="0" marL="0">
              <a:buNone/>
            </a:pPr>
            <a:r>
              <a:rPr lang="en-US" sz="2400" b="1" dirty="0">
                <a:solidFill>
                  <a:schemeClr val="tx1"/>
                </a:solidFill>
              </a:rPr>
              <a:t>노인 자살률</a:t>
            </a:r>
            <a:endParaRPr lang="en-US" sz="2400" dirty="0"/>
          </a:p>
        </p:txBody>
      </p:sp>
      <p:sp>
        <p:nvSpPr>
          <p:cNvPr id="10" name="stat 노인 빈곤율"/>
          <p:cNvSpPr/>
          <p:nvPr/>
        </p:nvSpPr>
        <p:spPr>
          <a:xfrm>
            <a:off x="8127797" y="2011680"/>
            <a:ext cx="3332378" cy="2697480"/>
          </a:xfrm>
          <a:prstGeom prst="roundRect">
            <a:avLst>
              <a:gd name="adj" fmla="val 5424"/>
            </a:avLst>
          </a:prstGeom>
          <a:solidFill>
            <a:schemeClr val="bg2"/>
          </a:solidFill>
          <a:ln/>
        </p:spPr>
      </p:sp>
      <p:sp>
        <p:nvSpPr>
          <p:cNvPr id="11" name="stat value 노인 빈곤율"/>
          <p:cNvSpPr txBox="1"/>
          <p:nvPr/>
        </p:nvSpPr>
        <p:spPr>
          <a:xfrm>
            <a:off x="8127797" y="2286000"/>
            <a:ext cx="3332378" cy="1280160"/>
          </a:xfrm>
          <a:prstGeom prst="rect">
            <a:avLst/>
          </a:prstGeom>
          <a:noFill/>
          <a:ln/>
        </p:spPr>
        <p:txBody>
          <a:bodyPr wrap="square" lIns="0" tIns="0" rIns="0" bIns="0" rtlCol="0" anchor="ctr"/>
          <a:lstStyle/>
          <a:p>
            <a:pPr algn="ctr" indent="0" marL="0">
              <a:buNone/>
            </a:pPr>
            <a:r>
              <a:rPr lang="en-US" sz="6000" b="1" dirty="0">
                <a:solidFill>
                  <a:schemeClr val="accent4"/>
                </a:solidFill>
              </a:rPr>
              <a:t>최고</a:t>
            </a:r>
            <a:endParaRPr lang="en-US" sz="6000" dirty="0"/>
          </a:p>
        </p:txBody>
      </p:sp>
      <p:sp>
        <p:nvSpPr>
          <p:cNvPr id="12" name="stat label 노인 빈곤율"/>
          <p:cNvSpPr txBox="1"/>
          <p:nvPr/>
        </p:nvSpPr>
        <p:spPr>
          <a:xfrm>
            <a:off x="8127797" y="3703320"/>
            <a:ext cx="3332378" cy="548640"/>
          </a:xfrm>
          <a:prstGeom prst="rect">
            <a:avLst/>
          </a:prstGeom>
          <a:noFill/>
          <a:ln/>
        </p:spPr>
        <p:txBody>
          <a:bodyPr wrap="square" lIns="0" tIns="0" rIns="0" bIns="0" rtlCol="0" anchor="ctr"/>
          <a:lstStyle/>
          <a:p>
            <a:pPr algn="ctr" indent="0" marL="0">
              <a:buNone/>
            </a:pPr>
            <a:r>
              <a:rPr lang="en-US" sz="2400" b="1" dirty="0">
                <a:solidFill>
                  <a:schemeClr val="tx1"/>
                </a:solidFill>
              </a:rPr>
              <a:t>노인 빈곤율</a:t>
            </a:r>
            <a:endParaRPr lang="en-US" sz="2400" dirty="0"/>
          </a:p>
        </p:txBody>
      </p:sp>
      <p:sp>
        <p:nvSpPr>
          <p:cNvPr id="13" name="message"/>
          <p:cNvSpPr txBox="1"/>
          <p:nvPr/>
        </p:nvSpPr>
        <p:spPr>
          <a:xfrm>
            <a:off x="731520" y="5120640"/>
            <a:ext cx="10728655" cy="594360"/>
          </a:xfrm>
          <a:prstGeom prst="rect">
            <a:avLst/>
          </a:prstGeom>
          <a:noFill/>
          <a:ln/>
        </p:spPr>
        <p:txBody>
          <a:bodyPr wrap="square" lIns="0" tIns="0" rIns="0" bIns="0" rtlCol="0" anchor="ctr"/>
          <a:lstStyle/>
          <a:p>
            <a:pPr indent="0" marL="0">
              <a:buNone/>
            </a:pPr>
            <a:r>
              <a:rPr lang="en-US" sz="2600" dirty="0">
                <a:solidFill>
                  <a:schemeClr val="tx1"/>
                </a:solidFill>
              </a:rPr>
              <a:t>모두 OECD 최고 수준, 가장 큰 이유는 </a:t>
            </a:r>
            <a:pPr indent="0" marL="0">
              <a:buNone/>
            </a:pPr>
            <a:r>
              <a:rPr lang="en-US" sz="2600" b="1" dirty="0">
                <a:solidFill>
                  <a:schemeClr val="accent4"/>
                </a:solidFill>
              </a:rPr>
              <a:t>돈</a:t>
            </a:r>
            <a:pPr indent="0" marL="0">
              <a:buNone/>
            </a:pPr>
            <a:r>
              <a:rPr lang="en-US" sz="2600" dirty="0">
                <a:solidFill>
                  <a:schemeClr val="tx1"/>
                </a:solidFill>
              </a:rPr>
              <a:t>입니다</a:t>
            </a:r>
            <a:endParaRPr lang="en-US" sz="2600" dirty="0"/>
          </a:p>
        </p:txBody>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lIns="0" tIns="0" rIns="0" bIns="0" rtlCol="0" anchor="ctr"/>
          <a:lstStyle/>
          <a:p>
            <a:pPr algn="l" indent="0" marL="0">
              <a:buNone/>
            </a:pPr>
            <a:r>
              <a:rPr lang="en-US" sz="3800" b="1" dirty="0">
                <a:solidFill>
                  <a:schemeClr val="tx1"/>
                </a:solidFill>
              </a:rPr>
              <a:t>연금이 나오기 전까지 수입이 끊깁니다</a:t>
            </a:r>
            <a:endParaRPr lang="en-US" sz="3800" dirty="0"/>
          </a:p>
        </p:txBody>
      </p:sp>
      <p:sp>
        <p:nvSpPr>
          <p:cNvPr id="3" name="section tag"/>
          <p:cNvSpPr/>
          <p:nvPr/>
        </p:nvSpPr>
        <p:spPr>
          <a:xfrm>
            <a:off x="731520" y="457200"/>
            <a:ext cx="1935480" cy="402336"/>
          </a:xfrm>
          <a:prstGeom prst="roundRect">
            <a:avLst>
              <a:gd name="adj" fmla="val 50000"/>
            </a:avLst>
          </a:prstGeom>
          <a:solidFill>
            <a:schemeClr val="accent5"/>
          </a:solidFill>
          <a:ln/>
        </p:spPr>
        <p:txBody>
          <a:bodyPr wrap="square" lIns="0" tIns="0" rIns="0" bIns="0" rtlCol="0" anchor="ctr"/>
          <a:lstStyle/>
          <a:p>
            <a:pPr algn="ctr" indent="0" marL="0">
              <a:buNone/>
            </a:pPr>
            <a:r>
              <a:rPr lang="en-US" sz="1600" b="1" dirty="0">
                <a:solidFill>
                  <a:schemeClr val="tx1"/>
                </a:solidFill>
              </a:rPr>
              <a:t>가. 늘어난 수명</a:t>
            </a:r>
            <a:endParaRPr lang="en-US" sz="1600" dirty="0"/>
          </a:p>
        </p:txBody>
      </p:sp>
      <p:sp>
        <p:nvSpPr>
          <p:cNvPr id="4" name="retire 50 coin"/>
          <p:cNvSpPr/>
          <p:nvPr/>
        </p:nvSpPr>
        <p:spPr>
          <a:xfrm>
            <a:off x="731520" y="2194560"/>
            <a:ext cx="1371600" cy="1371600"/>
          </a:xfrm>
          <a:prstGeom prst="ellipse">
            <a:avLst/>
          </a:prstGeom>
          <a:solidFill>
            <a:schemeClr val="tx2"/>
          </a:solidFill>
          <a:ln/>
        </p:spPr>
      </p:sp>
      <p:sp>
        <p:nvSpPr>
          <p:cNvPr id="5" name="retire 50 text"/>
          <p:cNvSpPr txBox="1"/>
          <p:nvPr/>
        </p:nvSpPr>
        <p:spPr>
          <a:xfrm>
            <a:off x="731520" y="2194560"/>
            <a:ext cx="1371600" cy="1371600"/>
          </a:xfrm>
          <a:prstGeom prst="rect">
            <a:avLst/>
          </a:prstGeom>
          <a:noFill/>
          <a:ln/>
        </p:spPr>
        <p:txBody>
          <a:bodyPr wrap="square" lIns="0" tIns="0" rIns="0" bIns="0" rtlCol="0" anchor="ctr"/>
          <a:lstStyle/>
          <a:p>
            <a:pPr algn="ctr" indent="0" marL="0">
              <a:buNone/>
            </a:pPr>
            <a:r>
              <a:rPr lang="en-US" sz="2800" b="1" dirty="0">
                <a:solidFill>
                  <a:schemeClr val="accent1"/>
                </a:solidFill>
              </a:rPr>
              <a:t>50세</a:t>
            </a:r>
            <a:endParaRPr lang="en-US" sz="2800" dirty="0"/>
          </a:p>
        </p:txBody>
      </p:sp>
      <p:sp>
        <p:nvSpPr>
          <p:cNvPr id="6" name="pension 65 coin"/>
          <p:cNvSpPr/>
          <p:nvPr/>
        </p:nvSpPr>
        <p:spPr>
          <a:xfrm>
            <a:off x="10088575" y="2194560"/>
            <a:ext cx="1371600" cy="1371600"/>
          </a:xfrm>
          <a:prstGeom prst="ellipse">
            <a:avLst/>
          </a:prstGeom>
          <a:solidFill>
            <a:schemeClr val="accent1"/>
          </a:solidFill>
          <a:ln/>
        </p:spPr>
      </p:sp>
      <p:sp>
        <p:nvSpPr>
          <p:cNvPr id="7" name="pension 65 text"/>
          <p:cNvSpPr txBox="1"/>
          <p:nvPr/>
        </p:nvSpPr>
        <p:spPr>
          <a:xfrm>
            <a:off x="10088575" y="2194560"/>
            <a:ext cx="1371600" cy="1371600"/>
          </a:xfrm>
          <a:prstGeom prst="rect">
            <a:avLst/>
          </a:prstGeom>
          <a:noFill/>
          <a:ln/>
        </p:spPr>
        <p:txBody>
          <a:bodyPr wrap="square" lIns="0" tIns="0" rIns="0" bIns="0" rtlCol="0" anchor="ctr"/>
          <a:lstStyle/>
          <a:p>
            <a:pPr algn="ctr" indent="0" marL="0">
              <a:buNone/>
            </a:pPr>
            <a:r>
              <a:rPr lang="en-US" sz="2800" b="1" dirty="0">
                <a:solidFill>
                  <a:schemeClr val="tx1"/>
                </a:solidFill>
              </a:rPr>
              <a:t>65세</a:t>
            </a:r>
            <a:endParaRPr lang="en-US" sz="2800" dirty="0"/>
          </a:p>
        </p:txBody>
      </p:sp>
      <p:sp>
        <p:nvSpPr>
          <p:cNvPr id="8" name="income gap"/>
          <p:cNvSpPr/>
          <p:nvPr/>
        </p:nvSpPr>
        <p:spPr>
          <a:xfrm>
            <a:off x="2331720" y="2423160"/>
            <a:ext cx="7528255" cy="914400"/>
          </a:xfrm>
          <a:prstGeom prst="roundRect">
            <a:avLst>
              <a:gd name="adj" fmla="val 40000"/>
            </a:avLst>
          </a:prstGeom>
          <a:solidFill>
            <a:schemeClr val="accent4"/>
          </a:solidFill>
          <a:ln/>
        </p:spPr>
        <p:txBody>
          <a:bodyPr wrap="square" lIns="0" tIns="0" rIns="0" bIns="0" rtlCol="0" anchor="ctr"/>
          <a:lstStyle/>
          <a:p>
            <a:pPr algn="ctr" indent="0" marL="0">
              <a:buNone/>
            </a:pPr>
            <a:r>
              <a:rPr lang="en-US" sz="3200" b="1" dirty="0">
                <a:solidFill>
                  <a:schemeClr val="bg1"/>
                </a:solidFill>
              </a:rPr>
              <a:t>15년 동안 수입 0원</a:t>
            </a:r>
            <a:endParaRPr lang="en-US" sz="3200" dirty="0"/>
          </a:p>
        </p:txBody>
      </p:sp>
      <p:sp>
        <p:nvSpPr>
          <p:cNvPr id="9" name="label retire"/>
          <p:cNvSpPr txBox="1"/>
          <p:nvPr/>
        </p:nvSpPr>
        <p:spPr>
          <a:xfrm>
            <a:off x="457200" y="3749040"/>
            <a:ext cx="1920240" cy="502920"/>
          </a:xfrm>
          <a:prstGeom prst="rect">
            <a:avLst/>
          </a:prstGeom>
          <a:noFill/>
          <a:ln/>
        </p:spPr>
        <p:txBody>
          <a:bodyPr wrap="square" lIns="0" tIns="0" rIns="0" bIns="0" rtlCol="0" anchor="ctr"/>
          <a:lstStyle/>
          <a:p>
            <a:pPr algn="ctr" indent="0" marL="0">
              <a:buNone/>
            </a:pPr>
            <a:r>
              <a:rPr lang="en-US" sz="2400" b="1" dirty="0">
                <a:solidFill>
                  <a:schemeClr val="tx1"/>
                </a:solidFill>
              </a:rPr>
              <a:t>명예퇴직</a:t>
            </a:r>
            <a:endParaRPr lang="en-US" sz="2400" dirty="0"/>
          </a:p>
        </p:txBody>
      </p:sp>
      <p:sp>
        <p:nvSpPr>
          <p:cNvPr id="10" name="label pension"/>
          <p:cNvSpPr txBox="1"/>
          <p:nvPr/>
        </p:nvSpPr>
        <p:spPr>
          <a:xfrm>
            <a:off x="9814255" y="3749040"/>
            <a:ext cx="1920240" cy="502920"/>
          </a:xfrm>
          <a:prstGeom prst="rect">
            <a:avLst/>
          </a:prstGeom>
          <a:noFill/>
          <a:ln/>
        </p:spPr>
        <p:txBody>
          <a:bodyPr wrap="square" lIns="0" tIns="0" rIns="0" bIns="0" rtlCol="0" anchor="ctr"/>
          <a:lstStyle/>
          <a:p>
            <a:pPr algn="ctr" indent="0" marL="0">
              <a:buNone/>
            </a:pPr>
            <a:r>
              <a:rPr lang="en-US" sz="2400" b="1" dirty="0">
                <a:solidFill>
                  <a:schemeClr val="tx1"/>
                </a:solidFill>
              </a:rPr>
              <a:t>연금 시작</a:t>
            </a:r>
            <a:endParaRPr lang="en-US" sz="2400" dirty="0"/>
          </a:p>
        </p:txBody>
      </p:sp>
      <p:sp>
        <p:nvSpPr>
          <p:cNvPr id="11" name="message"/>
          <p:cNvSpPr txBox="1"/>
          <p:nvPr/>
        </p:nvSpPr>
        <p:spPr>
          <a:xfrm>
            <a:off x="731520" y="4983480"/>
            <a:ext cx="10728655" cy="594360"/>
          </a:xfrm>
          <a:prstGeom prst="rect">
            <a:avLst/>
          </a:prstGeom>
          <a:noFill/>
          <a:ln/>
        </p:spPr>
        <p:txBody>
          <a:bodyPr wrap="square" lIns="0" tIns="0" rIns="0" bIns="0" rtlCol="0" anchor="ctr"/>
          <a:lstStyle/>
          <a:p>
            <a:pPr indent="0" marL="0">
              <a:buNone/>
            </a:pPr>
            <a:r>
              <a:rPr lang="en-US" sz="2600" dirty="0">
                <a:solidFill>
                  <a:schemeClr val="tx1"/>
                </a:solidFill>
              </a:rPr>
              <a:t>연금이 생활비보다 적으면 120세까지 빠듯하게 삽니다</a:t>
            </a:r>
            <a:endParaRPr lang="en-US" sz="2600" dirty="0"/>
          </a:p>
        </p:txBody>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lIns="0" tIns="0" rIns="0" bIns="0" rtlCol="0" anchor="ctr"/>
          <a:lstStyle/>
          <a:p>
            <a:pPr algn="l" indent="0" marL="0">
              <a:buNone/>
            </a:pPr>
            <a:r>
              <a:rPr lang="en-US" sz="3800" b="1" dirty="0">
                <a:solidFill>
                  <a:schemeClr val="tx1"/>
                </a:solidFill>
              </a:rPr>
              <a:t>얼마나 모아야 할까요</a:t>
            </a:r>
            <a:endParaRPr lang="en-US" sz="3800" dirty="0"/>
          </a:p>
        </p:txBody>
      </p:sp>
      <p:sp>
        <p:nvSpPr>
          <p:cNvPr id="3" name="section tag"/>
          <p:cNvSpPr/>
          <p:nvPr/>
        </p:nvSpPr>
        <p:spPr>
          <a:xfrm>
            <a:off x="731520" y="457200"/>
            <a:ext cx="1935480" cy="402336"/>
          </a:xfrm>
          <a:prstGeom prst="roundRect">
            <a:avLst>
              <a:gd name="adj" fmla="val 50000"/>
            </a:avLst>
          </a:prstGeom>
          <a:solidFill>
            <a:schemeClr val="accent5"/>
          </a:solidFill>
          <a:ln/>
        </p:spPr>
        <p:txBody>
          <a:bodyPr wrap="square" lIns="0" tIns="0" rIns="0" bIns="0" rtlCol="0" anchor="ctr"/>
          <a:lstStyle/>
          <a:p>
            <a:pPr algn="ctr" indent="0" marL="0">
              <a:buNone/>
            </a:pPr>
            <a:r>
              <a:rPr lang="en-US" sz="1600" b="1" dirty="0">
                <a:solidFill>
                  <a:schemeClr val="tx1"/>
                </a:solidFill>
              </a:rPr>
              <a:t>가. 늘어난 수명</a:t>
            </a:r>
            <a:endParaRPr lang="en-US" sz="1600" dirty="0"/>
          </a:p>
        </p:txBody>
      </p:sp>
      <p:sp>
        <p:nvSpPr>
          <p:cNvPr id="4" name="A coin"/>
          <p:cNvSpPr/>
          <p:nvPr/>
        </p:nvSpPr>
        <p:spPr>
          <a:xfrm>
            <a:off x="2177424" y="2057400"/>
            <a:ext cx="1828800" cy="1828800"/>
          </a:xfrm>
          <a:prstGeom prst="ellipse">
            <a:avLst/>
          </a:prstGeom>
          <a:solidFill>
            <a:schemeClr val="tx2"/>
          </a:solidFill>
          <a:ln/>
        </p:spPr>
      </p:sp>
      <p:sp>
        <p:nvSpPr>
          <p:cNvPr id="5" name="A text"/>
          <p:cNvSpPr txBox="1"/>
          <p:nvPr/>
        </p:nvSpPr>
        <p:spPr>
          <a:xfrm>
            <a:off x="2177424" y="2057400"/>
            <a:ext cx="1828800" cy="1828800"/>
          </a:xfrm>
          <a:prstGeom prst="rect">
            <a:avLst/>
          </a:prstGeom>
          <a:noFill/>
          <a:ln/>
        </p:spPr>
        <p:txBody>
          <a:bodyPr wrap="square" lIns="0" tIns="0" rIns="0" bIns="0" rtlCol="0" anchor="ctr"/>
          <a:lstStyle/>
          <a:p>
            <a:pPr algn="ctr" indent="0" marL="0">
              <a:buNone/>
            </a:pPr>
            <a:r>
              <a:rPr lang="en-US" sz="7200" b="1" dirty="0">
                <a:solidFill>
                  <a:schemeClr val="bg1"/>
                </a:solidFill>
              </a:rPr>
              <a:t>A</a:t>
            </a:r>
            <a:endParaRPr lang="en-US" sz="7200" dirty="0"/>
          </a:p>
        </p:txBody>
      </p:sp>
      <p:sp>
        <p:nvSpPr>
          <p:cNvPr id="6" name="B coin"/>
          <p:cNvSpPr/>
          <p:nvPr/>
        </p:nvSpPr>
        <p:spPr>
          <a:xfrm>
            <a:off x="8185471" y="2057400"/>
            <a:ext cx="1828800" cy="1828800"/>
          </a:xfrm>
          <a:prstGeom prst="ellipse">
            <a:avLst/>
          </a:prstGeom>
          <a:solidFill>
            <a:schemeClr val="accent1"/>
          </a:solidFill>
          <a:ln/>
        </p:spPr>
      </p:sp>
      <p:sp>
        <p:nvSpPr>
          <p:cNvPr id="7" name="B text"/>
          <p:cNvSpPr txBox="1"/>
          <p:nvPr/>
        </p:nvSpPr>
        <p:spPr>
          <a:xfrm>
            <a:off x="8185471" y="2057400"/>
            <a:ext cx="1828800" cy="1828800"/>
          </a:xfrm>
          <a:prstGeom prst="rect">
            <a:avLst/>
          </a:prstGeom>
          <a:noFill/>
          <a:ln/>
        </p:spPr>
        <p:txBody>
          <a:bodyPr wrap="square" lIns="0" tIns="0" rIns="0" bIns="0" rtlCol="0" anchor="ctr"/>
          <a:lstStyle/>
          <a:p>
            <a:pPr algn="ctr" indent="0" marL="0">
              <a:buNone/>
            </a:pPr>
            <a:r>
              <a:rPr lang="en-US" sz="7200" b="1" dirty="0">
                <a:solidFill>
                  <a:schemeClr val="tx1"/>
                </a:solidFill>
              </a:rPr>
              <a:t>B</a:t>
            </a:r>
            <a:endParaRPr lang="en-US" sz="7200" dirty="0"/>
          </a:p>
        </p:txBody>
      </p:sp>
      <p:sp>
        <p:nvSpPr>
          <p:cNvPr id="8" name="equals"/>
          <p:cNvSpPr txBox="1"/>
          <p:nvPr/>
        </p:nvSpPr>
        <p:spPr>
          <a:xfrm>
            <a:off x="5181448" y="2240280"/>
            <a:ext cx="1828800" cy="1463040"/>
          </a:xfrm>
          <a:prstGeom prst="rect">
            <a:avLst/>
          </a:prstGeom>
          <a:noFill/>
          <a:ln/>
        </p:spPr>
        <p:txBody>
          <a:bodyPr wrap="square" lIns="0" tIns="0" rIns="0" bIns="0" rtlCol="0" anchor="ctr"/>
          <a:lstStyle/>
          <a:p>
            <a:pPr algn="ctr" indent="0" marL="0">
              <a:buNone/>
            </a:pPr>
            <a:r>
              <a:rPr lang="en-US" sz="8000" b="1" dirty="0">
                <a:solidFill>
                  <a:schemeClr val="accent3"/>
                </a:solidFill>
              </a:rPr>
              <a:t>=</a:t>
            </a:r>
            <a:endParaRPr lang="en-US" sz="8000" dirty="0"/>
          </a:p>
        </p:txBody>
      </p:sp>
      <p:sp>
        <p:nvSpPr>
          <p:cNvPr id="9" name="label A"/>
          <p:cNvSpPr txBox="1"/>
          <p:nvPr/>
        </p:nvSpPr>
        <p:spPr>
          <a:xfrm>
            <a:off x="1080144" y="4069080"/>
            <a:ext cx="4023360" cy="548640"/>
          </a:xfrm>
          <a:prstGeom prst="rect">
            <a:avLst/>
          </a:prstGeom>
          <a:noFill/>
          <a:ln/>
        </p:spPr>
        <p:txBody>
          <a:bodyPr wrap="square" lIns="0" tIns="0" rIns="0" bIns="0" rtlCol="0" anchor="ctr"/>
          <a:lstStyle/>
          <a:p>
            <a:pPr algn="ctr" indent="0" marL="0">
              <a:buNone/>
            </a:pPr>
            <a:r>
              <a:rPr lang="en-US" sz="2600" b="1" dirty="0">
                <a:solidFill>
                  <a:schemeClr val="tx1"/>
                </a:solidFill>
              </a:rPr>
              <a:t>1년 생활비</a:t>
            </a:r>
            <a:endParaRPr lang="en-US" sz="2600" dirty="0"/>
          </a:p>
        </p:txBody>
      </p:sp>
      <p:sp>
        <p:nvSpPr>
          <p:cNvPr id="10" name="label B"/>
          <p:cNvSpPr txBox="1"/>
          <p:nvPr/>
        </p:nvSpPr>
        <p:spPr>
          <a:xfrm>
            <a:off x="6722431" y="4069080"/>
            <a:ext cx="4754880" cy="548640"/>
          </a:xfrm>
          <a:prstGeom prst="rect">
            <a:avLst/>
          </a:prstGeom>
          <a:noFill/>
          <a:ln/>
        </p:spPr>
        <p:txBody>
          <a:bodyPr wrap="square" lIns="0" tIns="0" rIns="0" bIns="0" rtlCol="0" anchor="ctr"/>
          <a:lstStyle/>
          <a:p>
            <a:pPr algn="ctr" indent="0" marL="0">
              <a:buNone/>
            </a:pPr>
            <a:r>
              <a:rPr lang="en-US" sz="2600" b="1" dirty="0">
                <a:solidFill>
                  <a:schemeClr val="tx1"/>
                </a:solidFill>
              </a:rPr>
              <a:t>모은 돈의 1년 투자 수익</a:t>
            </a:r>
            <a:endParaRPr lang="en-US" sz="2600" dirty="0"/>
          </a:p>
        </p:txBody>
      </p:sp>
      <p:sp>
        <p:nvSpPr>
          <p:cNvPr id="11" name="message"/>
          <p:cNvSpPr txBox="1"/>
          <p:nvPr/>
        </p:nvSpPr>
        <p:spPr>
          <a:xfrm>
            <a:off x="731520" y="5074920"/>
            <a:ext cx="10728655" cy="594360"/>
          </a:xfrm>
          <a:prstGeom prst="rect">
            <a:avLst/>
          </a:prstGeom>
          <a:noFill/>
          <a:ln/>
        </p:spPr>
        <p:txBody>
          <a:bodyPr wrap="square" lIns="0" tIns="0" rIns="0" bIns="0" rtlCol="0" anchor="ctr"/>
          <a:lstStyle/>
          <a:p>
            <a:pPr indent="0" marL="0">
              <a:buNone/>
            </a:pPr>
            <a:r>
              <a:rPr lang="en-US" sz="2600" dirty="0">
                <a:solidFill>
                  <a:schemeClr val="tx1"/>
                </a:solidFill>
              </a:rPr>
              <a:t>B가 A만큼 커지면 노후 준비가 끝난 것입니다</a:t>
            </a:r>
            <a:endParaRPr lang="en-US" sz="2600" dirty="0"/>
          </a:p>
        </p:txBody>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lIns="0" tIns="0" rIns="0" bIns="0" rtlCol="0" anchor="ctr"/>
          <a:lstStyle/>
          <a:p>
            <a:pPr algn="l" indent="0" marL="0">
              <a:buNone/>
            </a:pPr>
            <a:r>
              <a:rPr lang="en-US" sz="3800" b="1" dirty="0">
                <a:solidFill>
                  <a:schemeClr val="tx1"/>
                </a:solidFill>
              </a:rPr>
              <a:t>월 500만 원을 쓰려면</a:t>
            </a:r>
            <a:endParaRPr lang="en-US" sz="3800" dirty="0"/>
          </a:p>
        </p:txBody>
      </p:sp>
      <p:sp>
        <p:nvSpPr>
          <p:cNvPr id="3" name="section tag"/>
          <p:cNvSpPr/>
          <p:nvPr/>
        </p:nvSpPr>
        <p:spPr>
          <a:xfrm>
            <a:off x="731520" y="457200"/>
            <a:ext cx="1935480" cy="402336"/>
          </a:xfrm>
          <a:prstGeom prst="roundRect">
            <a:avLst>
              <a:gd name="adj" fmla="val 50000"/>
            </a:avLst>
          </a:prstGeom>
          <a:solidFill>
            <a:schemeClr val="accent5"/>
          </a:solidFill>
          <a:ln/>
        </p:spPr>
        <p:txBody>
          <a:bodyPr wrap="square" lIns="0" tIns="0" rIns="0" bIns="0" rtlCol="0" anchor="ctr"/>
          <a:lstStyle/>
          <a:p>
            <a:pPr algn="ctr" indent="0" marL="0">
              <a:buNone/>
            </a:pPr>
            <a:r>
              <a:rPr lang="en-US" sz="1600" b="1" dirty="0">
                <a:solidFill>
                  <a:schemeClr val="tx1"/>
                </a:solidFill>
              </a:rPr>
              <a:t>가. 늘어난 수명</a:t>
            </a:r>
            <a:endParaRPr lang="en-US" sz="1600" dirty="0"/>
          </a:p>
        </p:txBody>
      </p:sp>
      <p:sp>
        <p:nvSpPr>
          <p:cNvPr id="4" name="message"/>
          <p:cNvSpPr txBox="1"/>
          <p:nvPr/>
        </p:nvSpPr>
        <p:spPr>
          <a:xfrm>
            <a:off x="731520" y="1920240"/>
            <a:ext cx="10728655" cy="594360"/>
          </a:xfrm>
          <a:prstGeom prst="rect">
            <a:avLst/>
          </a:prstGeom>
          <a:noFill/>
          <a:ln/>
        </p:spPr>
        <p:txBody>
          <a:bodyPr wrap="square" lIns="0" tIns="0" rIns="0" bIns="0" rtlCol="0" anchor="ctr"/>
          <a:lstStyle/>
          <a:p>
            <a:pPr indent="0" marL="0">
              <a:buNone/>
            </a:pPr>
            <a:r>
              <a:rPr lang="en-US" sz="2600" b="1" dirty="0">
                <a:solidFill>
                  <a:schemeClr val="tx1"/>
                </a:solidFill>
              </a:rPr>
              <a:t>A = 1년 6,000만 원</a:t>
            </a:r>
            <a:pPr indent="0" marL="0">
              <a:buNone/>
            </a:pPr>
            <a:r>
              <a:rPr lang="en-US" sz="2600" dirty="0">
                <a:solidFill>
                  <a:schemeClr val="tx1"/>
                </a:solidFill>
              </a:rPr>
              <a:t>, 수익만으로 받으려면 모아야 할 돈</a:t>
            </a:r>
            <a:endParaRPr lang="en-US" sz="2600" dirty="0"/>
          </a:p>
        </p:txBody>
      </p:sp>
      <p:sp>
        <p:nvSpPr>
          <p:cNvPr id="5" name="need 연 8% 투자 (가정)"/>
          <p:cNvSpPr/>
          <p:nvPr/>
        </p:nvSpPr>
        <p:spPr>
          <a:xfrm>
            <a:off x="731520" y="2743200"/>
            <a:ext cx="5158588" cy="2926080"/>
          </a:xfrm>
          <a:prstGeom prst="roundRect">
            <a:avLst>
              <a:gd name="adj" fmla="val 5000"/>
            </a:avLst>
          </a:prstGeom>
          <a:solidFill>
            <a:schemeClr val="tx2"/>
          </a:solidFill>
          <a:ln/>
        </p:spPr>
      </p:sp>
      <p:sp>
        <p:nvSpPr>
          <p:cNvPr id="6" name="need label 연 8% 투자 (가정)"/>
          <p:cNvSpPr txBox="1"/>
          <p:nvPr/>
        </p:nvSpPr>
        <p:spPr>
          <a:xfrm>
            <a:off x="1143000" y="3108960"/>
            <a:ext cx="4335628" cy="594360"/>
          </a:xfrm>
          <a:prstGeom prst="rect">
            <a:avLst/>
          </a:prstGeom>
          <a:noFill/>
          <a:ln/>
        </p:spPr>
        <p:txBody>
          <a:bodyPr wrap="square" lIns="0" tIns="0" rIns="0" bIns="0" rtlCol="0" anchor="ctr"/>
          <a:lstStyle/>
          <a:p>
            <a:pPr indent="0" marL="0">
              <a:buNone/>
            </a:pPr>
            <a:r>
              <a:rPr lang="en-US" sz="2600" b="1" dirty="0">
                <a:solidFill>
                  <a:schemeClr val="accent5"/>
                </a:solidFill>
              </a:rPr>
              <a:t>연 8% 투자 (가정)</a:t>
            </a:r>
            <a:endParaRPr lang="en-US" sz="2600" dirty="0"/>
          </a:p>
        </p:txBody>
      </p:sp>
      <p:sp>
        <p:nvSpPr>
          <p:cNvPr id="7" name="need value 연 8% 투자 (가정)"/>
          <p:cNvSpPr txBox="1"/>
          <p:nvPr/>
        </p:nvSpPr>
        <p:spPr>
          <a:xfrm>
            <a:off x="1143000" y="3931920"/>
            <a:ext cx="4335628" cy="1188720"/>
          </a:xfrm>
          <a:prstGeom prst="rect">
            <a:avLst/>
          </a:prstGeom>
          <a:noFill/>
          <a:ln/>
        </p:spPr>
        <p:txBody>
          <a:bodyPr wrap="square" lIns="0" tIns="0" rIns="0" bIns="0" rtlCol="0" anchor="ctr"/>
          <a:lstStyle/>
          <a:p>
            <a:pPr indent="0" marL="0">
              <a:buNone/>
            </a:pPr>
            <a:r>
              <a:rPr lang="en-US" sz="5400" b="1" dirty="0">
                <a:solidFill>
                  <a:schemeClr val="accent1"/>
                </a:solidFill>
              </a:rPr>
              <a:t>7억 5천만 원</a:t>
            </a:r>
            <a:endParaRPr lang="en-US" sz="5400" dirty="0"/>
          </a:p>
        </p:txBody>
      </p:sp>
      <p:sp>
        <p:nvSpPr>
          <p:cNvPr id="8" name="need 연 3% 예금"/>
          <p:cNvSpPr/>
          <p:nvPr/>
        </p:nvSpPr>
        <p:spPr>
          <a:xfrm>
            <a:off x="6301588" y="2743200"/>
            <a:ext cx="5158588" cy="2926080"/>
          </a:xfrm>
          <a:prstGeom prst="roundRect">
            <a:avLst>
              <a:gd name="adj" fmla="val 5000"/>
            </a:avLst>
          </a:prstGeom>
          <a:solidFill>
            <a:schemeClr val="bg2"/>
          </a:solidFill>
          <a:ln/>
        </p:spPr>
      </p:sp>
      <p:sp>
        <p:nvSpPr>
          <p:cNvPr id="9" name="need label 연 3% 예금"/>
          <p:cNvSpPr txBox="1"/>
          <p:nvPr/>
        </p:nvSpPr>
        <p:spPr>
          <a:xfrm>
            <a:off x="6713068" y="3108960"/>
            <a:ext cx="4335628" cy="594360"/>
          </a:xfrm>
          <a:prstGeom prst="rect">
            <a:avLst/>
          </a:prstGeom>
          <a:noFill/>
          <a:ln/>
        </p:spPr>
        <p:txBody>
          <a:bodyPr wrap="square" lIns="0" tIns="0" rIns="0" bIns="0" rtlCol="0" anchor="ctr"/>
          <a:lstStyle/>
          <a:p>
            <a:pPr indent="0" marL="0">
              <a:buNone/>
            </a:pPr>
            <a:r>
              <a:rPr lang="en-US" sz="2600" b="1" dirty="0">
                <a:solidFill>
                  <a:schemeClr val="tx1"/>
                </a:solidFill>
              </a:rPr>
              <a:t>연 3% 예금</a:t>
            </a:r>
            <a:endParaRPr lang="en-US" sz="2600" dirty="0"/>
          </a:p>
        </p:txBody>
      </p:sp>
      <p:sp>
        <p:nvSpPr>
          <p:cNvPr id="10" name="need value 연 3% 예금"/>
          <p:cNvSpPr txBox="1"/>
          <p:nvPr/>
        </p:nvSpPr>
        <p:spPr>
          <a:xfrm>
            <a:off x="6713068" y="3931920"/>
            <a:ext cx="4335628" cy="1188720"/>
          </a:xfrm>
          <a:prstGeom prst="rect">
            <a:avLst/>
          </a:prstGeom>
          <a:noFill/>
          <a:ln/>
        </p:spPr>
        <p:txBody>
          <a:bodyPr wrap="square" lIns="0" tIns="0" rIns="0" bIns="0" rtlCol="0" anchor="ctr"/>
          <a:lstStyle/>
          <a:p>
            <a:pPr indent="0" marL="0">
              <a:buNone/>
            </a:pPr>
            <a:r>
              <a:rPr lang="en-US" sz="5400" b="1" dirty="0">
                <a:solidFill>
                  <a:schemeClr val="accent4"/>
                </a:solidFill>
              </a:rPr>
              <a:t>20억 원</a:t>
            </a:r>
            <a:endParaRPr lang="en-US" sz="5400" dirty="0"/>
          </a:p>
        </p:txBody>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lIns="0" tIns="0" rIns="0" bIns="0" rtlCol="0" anchor="ctr"/>
          <a:lstStyle/>
          <a:p>
            <a:pPr algn="l" indent="0" marL="0">
              <a:buNone/>
            </a:pPr>
            <a:r>
              <a:rPr lang="en-US" sz="3800" b="1" dirty="0">
                <a:solidFill>
                  <a:schemeClr val="tx1"/>
                </a:solidFill>
              </a:rPr>
              <a:t>매달 얼마씩 모아야 할까요</a:t>
            </a:r>
            <a:endParaRPr lang="en-US" sz="3800" dirty="0"/>
          </a:p>
        </p:txBody>
      </p:sp>
      <p:sp>
        <p:nvSpPr>
          <p:cNvPr id="3" name="section tag"/>
          <p:cNvSpPr/>
          <p:nvPr/>
        </p:nvSpPr>
        <p:spPr>
          <a:xfrm>
            <a:off x="731520" y="457200"/>
            <a:ext cx="1935480" cy="402336"/>
          </a:xfrm>
          <a:prstGeom prst="roundRect">
            <a:avLst>
              <a:gd name="adj" fmla="val 50000"/>
            </a:avLst>
          </a:prstGeom>
          <a:solidFill>
            <a:schemeClr val="accent5"/>
          </a:solidFill>
          <a:ln/>
        </p:spPr>
        <p:txBody>
          <a:bodyPr wrap="square" lIns="0" tIns="0" rIns="0" bIns="0" rtlCol="0" anchor="ctr"/>
          <a:lstStyle/>
          <a:p>
            <a:pPr algn="ctr" indent="0" marL="0">
              <a:buNone/>
            </a:pPr>
            <a:r>
              <a:rPr lang="en-US" sz="1600" b="1" dirty="0">
                <a:solidFill>
                  <a:schemeClr val="tx1"/>
                </a:solidFill>
              </a:rPr>
              <a:t>가. 늘어난 수명</a:t>
            </a:r>
            <a:endParaRPr lang="en-US" sz="1600" dirty="0"/>
          </a:p>
        </p:txBody>
      </p:sp>
      <p:graphicFrame>
        <p:nvGraphicFramePr>
          <p:cNvPr id="4" name="saving chart" descr="매달 저축액 막대그래프: 연 8% 투자는 월 36만 원, 연 3% 예금은 월 275만 원"/>
          <p:cNvGraphicFramePr/>
          <p:nvPr/>
        </p:nvGraphicFramePr>
        <p:xfrm>
          <a:off x="731520" y="1874520"/>
          <a:ext cx="10728655" cy="3291840"/>
        </p:xfrm>
        <a:graphic xmlns:a="http://schemas.openxmlformats.org/drawingml/2006/main">
          <a:graphicData uri="http://schemas.openxmlformats.org/drawingml/2006/chart">
            <c:chart xmlns:c="http://schemas.openxmlformats.org/drawingml/2006/chart" r:id="rId1"/>
          </a:graphicData>
        </a:graphic>
      </p:graphicFrame>
      <p:sp>
        <p:nvSpPr>
          <p:cNvPr id="5" name="message"/>
          <p:cNvSpPr txBox="1"/>
          <p:nvPr/>
        </p:nvSpPr>
        <p:spPr>
          <a:xfrm>
            <a:off x="731520" y="5440680"/>
            <a:ext cx="10728655" cy="594360"/>
          </a:xfrm>
          <a:prstGeom prst="rect">
            <a:avLst/>
          </a:prstGeom>
          <a:noFill/>
          <a:ln/>
        </p:spPr>
        <p:txBody>
          <a:bodyPr wrap="square" lIns="0" tIns="0" rIns="0" bIns="0" rtlCol="0" anchor="ctr"/>
          <a:lstStyle/>
          <a:p>
            <a:pPr indent="0" marL="0">
              <a:buNone/>
            </a:pPr>
            <a:r>
              <a:rPr lang="en-US" sz="2600" dirty="0">
                <a:solidFill>
                  <a:schemeClr val="tx1"/>
                </a:solidFill>
              </a:rPr>
              <a:t>30세부터 35년 동안, 차이를 만드는 건 </a:t>
            </a:r>
            <a:pPr indent="0" marL="0">
              <a:buNone/>
            </a:pPr>
            <a:r>
              <a:rPr lang="en-US" sz="2600" b="1" dirty="0">
                <a:solidFill>
                  <a:schemeClr val="tx1"/>
                </a:solidFill>
              </a:rPr>
              <a:t>복리</a:t>
            </a:r>
            <a:pPr indent="0" marL="0">
              <a:buNone/>
            </a:pPr>
            <a:r>
              <a:rPr lang="en-US" sz="2600" dirty="0">
                <a:solidFill>
                  <a:schemeClr val="tx1"/>
                </a:solidFill>
              </a:rPr>
              <a:t>입니다</a:t>
            </a:r>
            <a:endParaRPr lang="en-US" sz="2600" dirty="0"/>
          </a:p>
        </p:txBody>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lIns="0" tIns="0" rIns="0" bIns="0" rtlCol="0" anchor="ctr"/>
          <a:lstStyle/>
          <a:p>
            <a:pPr algn="l" indent="0" marL="0">
              <a:buNone/>
            </a:pPr>
            <a:r>
              <a:rPr lang="en-US" sz="3800" b="1" dirty="0">
                <a:solidFill>
                  <a:schemeClr val="tx1"/>
                </a:solidFill>
              </a:rPr>
              <a:t>모은 돈을 나눠 쓰면 될까요?</a:t>
            </a:r>
            <a:endParaRPr lang="en-US" sz="3800" dirty="0"/>
          </a:p>
        </p:txBody>
      </p:sp>
      <p:sp>
        <p:nvSpPr>
          <p:cNvPr id="3" name="section tag"/>
          <p:cNvSpPr/>
          <p:nvPr/>
        </p:nvSpPr>
        <p:spPr>
          <a:xfrm>
            <a:off x="731520" y="457200"/>
            <a:ext cx="1874520" cy="402336"/>
          </a:xfrm>
          <a:prstGeom prst="roundRect">
            <a:avLst>
              <a:gd name="adj" fmla="val 50000"/>
            </a:avLst>
          </a:prstGeom>
          <a:solidFill>
            <a:schemeClr val="accent5"/>
          </a:solidFill>
          <a:ln/>
        </p:spPr>
        <p:txBody>
          <a:bodyPr wrap="square" lIns="0" tIns="0" rIns="0" bIns="0" rtlCol="0" anchor="ctr"/>
          <a:lstStyle/>
          <a:p>
            <a:pPr algn="ctr" indent="0" marL="0">
              <a:buNone/>
            </a:pPr>
            <a:r>
              <a:rPr lang="en-US" sz="1600" b="1" dirty="0">
                <a:solidFill>
                  <a:schemeClr val="tx1"/>
                </a:solidFill>
              </a:rPr>
              <a:t>나. 인플레이션</a:t>
            </a:r>
            <a:endParaRPr lang="en-US" sz="1600" dirty="0"/>
          </a:p>
        </p:txBody>
      </p:sp>
      <p:sp>
        <p:nvSpPr>
          <p:cNvPr id="4" name="message"/>
          <p:cNvSpPr txBox="1"/>
          <p:nvPr/>
        </p:nvSpPr>
        <p:spPr>
          <a:xfrm>
            <a:off x="731520" y="1920240"/>
            <a:ext cx="10728655" cy="594360"/>
          </a:xfrm>
          <a:prstGeom prst="rect">
            <a:avLst/>
          </a:prstGeom>
          <a:noFill/>
          <a:ln/>
        </p:spPr>
        <p:txBody>
          <a:bodyPr wrap="square" lIns="0" tIns="0" rIns="0" bIns="0" rtlCol="0" anchor="ctr"/>
          <a:lstStyle/>
          <a:p>
            <a:pPr indent="0" marL="0">
              <a:buNone/>
            </a:pPr>
            <a:r>
              <a:rPr lang="en-US" sz="2600" dirty="0">
                <a:solidFill>
                  <a:schemeClr val="tx1"/>
                </a:solidFill>
              </a:rPr>
              <a:t>65세에 모은 10억 원을 120세까지 나눠 쓴다면</a:t>
            </a:r>
            <a:endParaRPr lang="en-US" sz="2600" dirty="0"/>
          </a:p>
        </p:txBody>
      </p:sp>
      <p:sp>
        <p:nvSpPr>
          <p:cNvPr id="5" name="eq 10억 원"/>
          <p:cNvSpPr/>
          <p:nvPr/>
        </p:nvSpPr>
        <p:spPr>
          <a:xfrm>
            <a:off x="746608" y="2743200"/>
            <a:ext cx="2743200" cy="1280160"/>
          </a:xfrm>
          <a:prstGeom prst="roundRect">
            <a:avLst>
              <a:gd name="adj" fmla="val 11429"/>
            </a:avLst>
          </a:prstGeom>
          <a:solidFill>
            <a:schemeClr val="bg2"/>
          </a:solidFill>
          <a:ln/>
        </p:spPr>
        <p:txBody>
          <a:bodyPr wrap="square" lIns="0" tIns="0" rIns="0" bIns="0" rtlCol="0" anchor="ctr"/>
          <a:lstStyle/>
          <a:p>
            <a:pPr algn="ctr" indent="0" marL="0">
              <a:buNone/>
            </a:pPr>
            <a:r>
              <a:rPr lang="en-US" sz="3600" b="1" dirty="0">
                <a:solidFill>
                  <a:schemeClr val="tx1"/>
                </a:solidFill>
              </a:rPr>
              <a:t>10억 원</a:t>
            </a:r>
            <a:endParaRPr lang="en-US" sz="3600" dirty="0"/>
          </a:p>
        </p:txBody>
      </p:sp>
      <p:sp>
        <p:nvSpPr>
          <p:cNvPr id="6" name="op ÷"/>
          <p:cNvSpPr txBox="1"/>
          <p:nvPr/>
        </p:nvSpPr>
        <p:spPr>
          <a:xfrm>
            <a:off x="3489808" y="2743200"/>
            <a:ext cx="822960" cy="1280160"/>
          </a:xfrm>
          <a:prstGeom prst="rect">
            <a:avLst/>
          </a:prstGeom>
          <a:noFill/>
          <a:ln/>
        </p:spPr>
        <p:txBody>
          <a:bodyPr wrap="square" lIns="0" tIns="0" rIns="0" bIns="0" rtlCol="0" anchor="ctr"/>
          <a:lstStyle/>
          <a:p>
            <a:pPr algn="ctr" indent="0" marL="0">
              <a:buNone/>
            </a:pPr>
            <a:r>
              <a:rPr lang="en-US" sz="4800" b="1" dirty="0">
                <a:solidFill>
                  <a:schemeClr val="accent3"/>
                </a:solidFill>
              </a:rPr>
              <a:t>÷</a:t>
            </a:r>
            <a:endParaRPr lang="en-US" sz="4800" dirty="0"/>
          </a:p>
        </p:txBody>
      </p:sp>
      <p:sp>
        <p:nvSpPr>
          <p:cNvPr id="7" name="eq 55년"/>
          <p:cNvSpPr/>
          <p:nvPr/>
        </p:nvSpPr>
        <p:spPr>
          <a:xfrm>
            <a:off x="4312768" y="2743200"/>
            <a:ext cx="2103120" cy="1280160"/>
          </a:xfrm>
          <a:prstGeom prst="roundRect">
            <a:avLst>
              <a:gd name="adj" fmla="val 11429"/>
            </a:avLst>
          </a:prstGeom>
          <a:solidFill>
            <a:schemeClr val="bg2"/>
          </a:solidFill>
          <a:ln/>
        </p:spPr>
        <p:txBody>
          <a:bodyPr wrap="square" lIns="0" tIns="0" rIns="0" bIns="0" rtlCol="0" anchor="ctr"/>
          <a:lstStyle/>
          <a:p>
            <a:pPr algn="ctr" indent="0" marL="0">
              <a:buNone/>
            </a:pPr>
            <a:r>
              <a:rPr lang="en-US" sz="3600" b="1" dirty="0">
                <a:solidFill>
                  <a:schemeClr val="tx1"/>
                </a:solidFill>
              </a:rPr>
              <a:t>55년</a:t>
            </a:r>
            <a:endParaRPr lang="en-US" sz="3600" dirty="0"/>
          </a:p>
        </p:txBody>
      </p:sp>
      <p:sp>
        <p:nvSpPr>
          <p:cNvPr id="8" name="op ="/>
          <p:cNvSpPr txBox="1"/>
          <p:nvPr/>
        </p:nvSpPr>
        <p:spPr>
          <a:xfrm>
            <a:off x="6415888" y="2743200"/>
            <a:ext cx="822960" cy="1280160"/>
          </a:xfrm>
          <a:prstGeom prst="rect">
            <a:avLst/>
          </a:prstGeom>
          <a:noFill/>
          <a:ln/>
        </p:spPr>
        <p:txBody>
          <a:bodyPr wrap="square" lIns="0" tIns="0" rIns="0" bIns="0" rtlCol="0" anchor="ctr"/>
          <a:lstStyle/>
          <a:p>
            <a:pPr algn="ctr" indent="0" marL="0">
              <a:buNone/>
            </a:pPr>
            <a:r>
              <a:rPr lang="en-US" sz="4800" b="1" dirty="0">
                <a:solidFill>
                  <a:schemeClr val="accent3"/>
                </a:solidFill>
              </a:rPr>
              <a:t>=</a:t>
            </a:r>
            <a:endParaRPr lang="en-US" sz="4800" dirty="0"/>
          </a:p>
        </p:txBody>
      </p:sp>
      <p:sp>
        <p:nvSpPr>
          <p:cNvPr id="9" name="eq 1년 약 1,800만 원"/>
          <p:cNvSpPr/>
          <p:nvPr/>
        </p:nvSpPr>
        <p:spPr>
          <a:xfrm>
            <a:off x="7238848" y="2743200"/>
            <a:ext cx="4206240" cy="1280160"/>
          </a:xfrm>
          <a:prstGeom prst="roundRect">
            <a:avLst>
              <a:gd name="adj" fmla="val 11429"/>
            </a:avLst>
          </a:prstGeom>
          <a:solidFill>
            <a:schemeClr val="accent5"/>
          </a:solidFill>
          <a:ln/>
        </p:spPr>
        <p:txBody>
          <a:bodyPr wrap="square" lIns="0" tIns="0" rIns="0" bIns="0" rtlCol="0" anchor="ctr"/>
          <a:lstStyle/>
          <a:p>
            <a:pPr algn="ctr" indent="0" marL="0">
              <a:buNone/>
            </a:pPr>
            <a:r>
              <a:rPr lang="en-US" sz="3600" b="1" dirty="0">
                <a:solidFill>
                  <a:schemeClr val="tx1"/>
                </a:solidFill>
              </a:rPr>
              <a:t>1년 약 1,800만 원</a:t>
            </a:r>
            <a:endParaRPr lang="en-US" sz="3600" dirty="0"/>
          </a:p>
        </p:txBody>
      </p:sp>
      <p:sp>
        <p:nvSpPr>
          <p:cNvPr id="10" name="message"/>
          <p:cNvSpPr txBox="1"/>
          <p:nvPr/>
        </p:nvSpPr>
        <p:spPr>
          <a:xfrm>
            <a:off x="731520" y="4709160"/>
            <a:ext cx="10728655" cy="731520"/>
          </a:xfrm>
          <a:prstGeom prst="rect">
            <a:avLst/>
          </a:prstGeom>
          <a:noFill/>
          <a:ln/>
        </p:spPr>
        <p:txBody>
          <a:bodyPr wrap="square" lIns="0" tIns="0" rIns="0" bIns="0" rtlCol="0" anchor="ctr"/>
          <a:lstStyle/>
          <a:p>
            <a:pPr indent="0" marL="0">
              <a:buNone/>
            </a:pPr>
            <a:r>
              <a:rPr lang="en-US" sz="3600" dirty="0">
                <a:solidFill>
                  <a:schemeClr val="tx1"/>
                </a:solidFill>
              </a:rPr>
              <a:t>문제는 </a:t>
            </a:r>
            <a:pPr indent="0" marL="0">
              <a:buNone/>
            </a:pPr>
            <a:r>
              <a:rPr lang="en-US" sz="3600" b="1" dirty="0">
                <a:solidFill>
                  <a:schemeClr val="accent4"/>
                </a:solidFill>
              </a:rPr>
              <a:t>인플레이션</a:t>
            </a:r>
            <a:pPr indent="0" marL="0">
              <a:buNone/>
            </a:pPr>
            <a:r>
              <a:rPr lang="en-US" sz="3600" dirty="0">
                <a:solidFill>
                  <a:schemeClr val="tx1"/>
                </a:solidFill>
              </a:rPr>
              <a:t>입니다</a:t>
            </a:r>
            <a:endParaRPr lang="en-US" sz="3600" dirty="0"/>
          </a:p>
        </p:txBody>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lIns="0" tIns="0" rIns="0" bIns="0" rtlCol="0" anchor="ctr"/>
          <a:lstStyle/>
          <a:p>
            <a:pPr algn="l" indent="0" marL="0">
              <a:buNone/>
            </a:pPr>
            <a:r>
              <a:rPr lang="en-US" sz="3800" b="1" dirty="0">
                <a:solidFill>
                  <a:schemeClr val="tx1"/>
                </a:solidFill>
              </a:rPr>
              <a:t>짜장면 값이 두 배가 됐습니다</a:t>
            </a:r>
            <a:endParaRPr lang="en-US" sz="3800" dirty="0"/>
          </a:p>
        </p:txBody>
      </p:sp>
      <p:sp>
        <p:nvSpPr>
          <p:cNvPr id="3" name="section tag"/>
          <p:cNvSpPr/>
          <p:nvPr/>
        </p:nvSpPr>
        <p:spPr>
          <a:xfrm>
            <a:off x="731520" y="457200"/>
            <a:ext cx="1874520" cy="402336"/>
          </a:xfrm>
          <a:prstGeom prst="roundRect">
            <a:avLst>
              <a:gd name="adj" fmla="val 50000"/>
            </a:avLst>
          </a:prstGeom>
          <a:solidFill>
            <a:schemeClr val="accent5"/>
          </a:solidFill>
          <a:ln/>
        </p:spPr>
        <p:txBody>
          <a:bodyPr wrap="square" lIns="0" tIns="0" rIns="0" bIns="0" rtlCol="0" anchor="ctr"/>
          <a:lstStyle/>
          <a:p>
            <a:pPr algn="ctr" indent="0" marL="0">
              <a:buNone/>
            </a:pPr>
            <a:r>
              <a:rPr lang="en-US" sz="1600" b="1" dirty="0">
                <a:solidFill>
                  <a:schemeClr val="tx1"/>
                </a:solidFill>
              </a:rPr>
              <a:t>나. 인플레이션</a:t>
            </a:r>
            <a:endParaRPr lang="en-US" sz="1600" dirty="0"/>
          </a:p>
        </p:txBody>
      </p:sp>
      <p:graphicFrame>
        <p:nvGraphicFramePr>
          <p:cNvPr id="4" name="price chart" descr="물가 막대그래프: 짜장면 2000년 2,742원에서 2022년 5,769원, 설렁탕 4,217원에서 9,000원"/>
          <p:cNvGraphicFramePr/>
          <p:nvPr/>
        </p:nvGraphicFramePr>
        <p:xfrm>
          <a:off x="731520" y="1828800"/>
          <a:ext cx="10728655" cy="3520440"/>
        </p:xfrm>
        <a:graphic xmlns:a="http://schemas.openxmlformats.org/drawingml/2006/main">
          <a:graphicData uri="http://schemas.openxmlformats.org/drawingml/2006/chart">
            <c:chart xmlns:c="http://schemas.openxmlformats.org/drawingml/2006/chart" r:id="rId1"/>
          </a:graphicData>
        </a:graphic>
      </p:graphicFrame>
      <p:sp>
        <p:nvSpPr>
          <p:cNvPr id="5" name="message"/>
          <p:cNvSpPr txBox="1"/>
          <p:nvPr/>
        </p:nvSpPr>
        <p:spPr>
          <a:xfrm>
            <a:off x="731520" y="5486400"/>
            <a:ext cx="10728655" cy="594360"/>
          </a:xfrm>
          <a:prstGeom prst="rect">
            <a:avLst/>
          </a:prstGeom>
          <a:noFill/>
          <a:ln/>
        </p:spPr>
        <p:txBody>
          <a:bodyPr wrap="square" lIns="0" tIns="0" rIns="0" bIns="0" rtlCol="0" anchor="ctr"/>
          <a:lstStyle/>
          <a:p>
            <a:pPr indent="0" marL="0">
              <a:buNone/>
            </a:pPr>
            <a:r>
              <a:rPr lang="en-US" sz="2600" dirty="0">
                <a:solidFill>
                  <a:schemeClr val="tx1"/>
                </a:solidFill>
              </a:rPr>
              <a:t>가만히 둔 10억 원도 23년 뒤에는 </a:t>
            </a:r>
            <a:pPr indent="0" marL="0">
              <a:buNone/>
            </a:pPr>
            <a:r>
              <a:rPr lang="en-US" sz="2600" b="1" dirty="0">
                <a:solidFill>
                  <a:schemeClr val="accent4"/>
                </a:solidFill>
              </a:rPr>
              <a:t>5억 원어치</a:t>
            </a:r>
            <a:pPr indent="0" marL="0">
              <a:buNone/>
            </a:pPr>
            <a:r>
              <a:rPr lang="en-US" sz="2600" dirty="0">
                <a:solidFill>
                  <a:schemeClr val="tx1"/>
                </a:solidFill>
              </a:rPr>
              <a:t>가 됩니다</a:t>
            </a:r>
            <a:endParaRPr lang="en-US" sz="2600" dirty="0"/>
          </a:p>
        </p:txBody>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lIns="0" tIns="0" rIns="0" bIns="0" rtlCol="0" anchor="ctr"/>
          <a:lstStyle/>
          <a:p>
            <a:pPr algn="l" indent="0" marL="0">
              <a:buNone/>
            </a:pPr>
            <a:r>
              <a:rPr lang="en-US" sz="3800" b="1" dirty="0">
                <a:solidFill>
                  <a:schemeClr val="tx1"/>
                </a:solidFill>
              </a:rPr>
              <a:t>돈을 찍어 낼수록 돈의 가치는 떨어집니다</a:t>
            </a:r>
            <a:endParaRPr lang="en-US" sz="3800" dirty="0"/>
          </a:p>
        </p:txBody>
      </p:sp>
      <p:sp>
        <p:nvSpPr>
          <p:cNvPr id="3" name="section tag"/>
          <p:cNvSpPr/>
          <p:nvPr/>
        </p:nvSpPr>
        <p:spPr>
          <a:xfrm>
            <a:off x="731520" y="457200"/>
            <a:ext cx="1874520" cy="402336"/>
          </a:xfrm>
          <a:prstGeom prst="roundRect">
            <a:avLst>
              <a:gd name="adj" fmla="val 50000"/>
            </a:avLst>
          </a:prstGeom>
          <a:solidFill>
            <a:schemeClr val="accent5"/>
          </a:solidFill>
          <a:ln/>
        </p:spPr>
        <p:txBody>
          <a:bodyPr wrap="square" lIns="0" tIns="0" rIns="0" bIns="0" rtlCol="0" anchor="ctr"/>
          <a:lstStyle/>
          <a:p>
            <a:pPr algn="ctr" indent="0" marL="0">
              <a:buNone/>
            </a:pPr>
            <a:r>
              <a:rPr lang="en-US" sz="1600" b="1" dirty="0">
                <a:solidFill>
                  <a:schemeClr val="tx1"/>
                </a:solidFill>
              </a:rPr>
              <a:t>나. 인플레이션</a:t>
            </a:r>
            <a:endParaRPr lang="en-US" sz="1600" dirty="0"/>
          </a:p>
        </p:txBody>
      </p:sp>
      <p:sp>
        <p:nvSpPr>
          <p:cNvPr id="4" name="flow 경기 불황 coin"/>
          <p:cNvSpPr/>
          <p:nvPr/>
        </p:nvSpPr>
        <p:spPr>
          <a:xfrm>
            <a:off x="1478242" y="2103120"/>
            <a:ext cx="1188720" cy="1188720"/>
          </a:xfrm>
          <a:prstGeom prst="ellipse">
            <a:avLst/>
          </a:prstGeom>
          <a:solidFill>
            <a:schemeClr val="tx2"/>
          </a:solidFill>
          <a:ln/>
        </p:spPr>
      </p:sp>
      <p:pic>
        <p:nvPicPr>
          <p:cNvPr id="5" name="flow 경기 불황 icon" descr="flow 경기 불황 아이콘">    </p:cNvPr>
          <p:cNvPicPr>
            <a:picLocks noChangeAspect="1"/>
          </p:cNvPicPr>
          <p:nvPr/>
        </p:nvPicPr>
        <p:blipFill>
          <a:blip r:embed="rId1"/>
          <a:stretch>
            <a:fillRect/>
          </a:stretch>
        </p:blipFill>
        <p:spPr>
          <a:xfrm>
            <a:off x="1787309" y="2412187"/>
            <a:ext cx="570586" cy="570586"/>
          </a:xfrm>
          <a:prstGeom prst="rect">
            <a:avLst/>
          </a:prstGeom>
        </p:spPr>
      </p:pic>
      <p:sp>
        <p:nvSpPr>
          <p:cNvPr id="6" name="flow label 경기 불황"/>
          <p:cNvSpPr txBox="1"/>
          <p:nvPr/>
        </p:nvSpPr>
        <p:spPr>
          <a:xfrm>
            <a:off x="731520" y="3474720"/>
            <a:ext cx="2682164" cy="548640"/>
          </a:xfrm>
          <a:prstGeom prst="rect">
            <a:avLst/>
          </a:prstGeom>
          <a:noFill/>
          <a:ln/>
        </p:spPr>
        <p:txBody>
          <a:bodyPr wrap="square" lIns="0" tIns="0" rIns="0" bIns="0" rtlCol="0" anchor="ctr"/>
          <a:lstStyle/>
          <a:p>
            <a:pPr algn="ctr" indent="0" marL="0">
              <a:buNone/>
            </a:pPr>
            <a:r>
              <a:rPr lang="en-US" sz="2400" b="1" dirty="0">
                <a:solidFill>
                  <a:schemeClr val="tx1"/>
                </a:solidFill>
              </a:rPr>
              <a:t>경기 불황</a:t>
            </a:r>
            <a:endParaRPr lang="en-US" sz="2400" dirty="0"/>
          </a:p>
        </p:txBody>
      </p:sp>
      <p:sp>
        <p:nvSpPr>
          <p:cNvPr id="7" name="flow arrow 1"/>
          <p:cNvSpPr/>
          <p:nvPr/>
        </p:nvSpPr>
        <p:spPr>
          <a:xfrm>
            <a:off x="2849842" y="2560320"/>
            <a:ext cx="1127684" cy="274320"/>
          </a:xfrm>
          <a:prstGeom prst="rightArrow">
            <a:avLst/>
          </a:prstGeom>
          <a:solidFill>
            <a:schemeClr val="accent3"/>
          </a:solidFill>
          <a:ln/>
        </p:spPr>
      </p:sp>
      <p:sp>
        <p:nvSpPr>
          <p:cNvPr id="8" name="flow 돈을 찍어 냄 coin"/>
          <p:cNvSpPr/>
          <p:nvPr/>
        </p:nvSpPr>
        <p:spPr>
          <a:xfrm>
            <a:off x="4160406" y="2103120"/>
            <a:ext cx="1188720" cy="1188720"/>
          </a:xfrm>
          <a:prstGeom prst="ellipse">
            <a:avLst/>
          </a:prstGeom>
          <a:solidFill>
            <a:schemeClr val="tx2"/>
          </a:solidFill>
          <a:ln/>
        </p:spPr>
      </p:sp>
      <p:pic>
        <p:nvPicPr>
          <p:cNvPr id="9" name="flow 돈을 찍어 냄 icon" descr="flow 돈을 찍어 냄 아이콘">    </p:cNvPr>
          <p:cNvPicPr>
            <a:picLocks noChangeAspect="1"/>
          </p:cNvPicPr>
          <p:nvPr/>
        </p:nvPicPr>
        <p:blipFill>
          <a:blip r:embed="rId2"/>
          <a:stretch>
            <a:fillRect/>
          </a:stretch>
        </p:blipFill>
        <p:spPr>
          <a:xfrm>
            <a:off x="4469473" y="2412187"/>
            <a:ext cx="570586" cy="570586"/>
          </a:xfrm>
          <a:prstGeom prst="rect">
            <a:avLst/>
          </a:prstGeom>
        </p:spPr>
      </p:pic>
      <p:sp>
        <p:nvSpPr>
          <p:cNvPr id="10" name="flow label 돈을 찍어 냄"/>
          <p:cNvSpPr txBox="1"/>
          <p:nvPr/>
        </p:nvSpPr>
        <p:spPr>
          <a:xfrm>
            <a:off x="3413684" y="3474720"/>
            <a:ext cx="2682164" cy="548640"/>
          </a:xfrm>
          <a:prstGeom prst="rect">
            <a:avLst/>
          </a:prstGeom>
          <a:noFill/>
          <a:ln/>
        </p:spPr>
        <p:txBody>
          <a:bodyPr wrap="square" lIns="0" tIns="0" rIns="0" bIns="0" rtlCol="0" anchor="ctr"/>
          <a:lstStyle/>
          <a:p>
            <a:pPr algn="ctr" indent="0" marL="0">
              <a:buNone/>
            </a:pPr>
            <a:r>
              <a:rPr lang="en-US" sz="2400" b="1" dirty="0">
                <a:solidFill>
                  <a:schemeClr val="tx1"/>
                </a:solidFill>
              </a:rPr>
              <a:t>돈을 찍어 냄</a:t>
            </a:r>
            <a:endParaRPr lang="en-US" sz="2400" dirty="0"/>
          </a:p>
        </p:txBody>
      </p:sp>
      <p:sp>
        <p:nvSpPr>
          <p:cNvPr id="11" name="flow arrow 2"/>
          <p:cNvSpPr/>
          <p:nvPr/>
        </p:nvSpPr>
        <p:spPr>
          <a:xfrm>
            <a:off x="5532006" y="2560320"/>
            <a:ext cx="1127684" cy="274320"/>
          </a:xfrm>
          <a:prstGeom prst="rightArrow">
            <a:avLst/>
          </a:prstGeom>
          <a:solidFill>
            <a:schemeClr val="accent3"/>
          </a:solidFill>
          <a:ln/>
        </p:spPr>
      </p:sp>
      <p:sp>
        <p:nvSpPr>
          <p:cNvPr id="12" name="flow 돈이 흔해짐 coin"/>
          <p:cNvSpPr/>
          <p:nvPr/>
        </p:nvSpPr>
        <p:spPr>
          <a:xfrm>
            <a:off x="6842570" y="2103120"/>
            <a:ext cx="1188720" cy="1188720"/>
          </a:xfrm>
          <a:prstGeom prst="ellipse">
            <a:avLst/>
          </a:prstGeom>
          <a:solidFill>
            <a:schemeClr val="tx2"/>
          </a:solidFill>
          <a:ln/>
        </p:spPr>
      </p:sp>
      <p:pic>
        <p:nvPicPr>
          <p:cNvPr id="13" name="flow 돈이 흔해짐 icon" descr="flow 돈이 흔해짐 아이콘">    </p:cNvPr>
          <p:cNvPicPr>
            <a:picLocks noChangeAspect="1"/>
          </p:cNvPicPr>
          <p:nvPr/>
        </p:nvPicPr>
        <p:blipFill>
          <a:blip r:embed="rId3"/>
          <a:stretch>
            <a:fillRect/>
          </a:stretch>
        </p:blipFill>
        <p:spPr>
          <a:xfrm>
            <a:off x="7151637" y="2412187"/>
            <a:ext cx="570586" cy="570586"/>
          </a:xfrm>
          <a:prstGeom prst="rect">
            <a:avLst/>
          </a:prstGeom>
        </p:spPr>
      </p:pic>
      <p:sp>
        <p:nvSpPr>
          <p:cNvPr id="14" name="flow label 돈이 흔해짐"/>
          <p:cNvSpPr txBox="1"/>
          <p:nvPr/>
        </p:nvSpPr>
        <p:spPr>
          <a:xfrm>
            <a:off x="6095848" y="3474720"/>
            <a:ext cx="2682164" cy="548640"/>
          </a:xfrm>
          <a:prstGeom prst="rect">
            <a:avLst/>
          </a:prstGeom>
          <a:noFill/>
          <a:ln/>
        </p:spPr>
        <p:txBody>
          <a:bodyPr wrap="square" lIns="0" tIns="0" rIns="0" bIns="0" rtlCol="0" anchor="ctr"/>
          <a:lstStyle/>
          <a:p>
            <a:pPr algn="ctr" indent="0" marL="0">
              <a:buNone/>
            </a:pPr>
            <a:r>
              <a:rPr lang="en-US" sz="2400" b="1" dirty="0">
                <a:solidFill>
                  <a:schemeClr val="tx1"/>
                </a:solidFill>
              </a:rPr>
              <a:t>돈이 흔해짐</a:t>
            </a:r>
            <a:endParaRPr lang="en-US" sz="2400" dirty="0"/>
          </a:p>
        </p:txBody>
      </p:sp>
      <p:sp>
        <p:nvSpPr>
          <p:cNvPr id="15" name="flow arrow 3"/>
          <p:cNvSpPr/>
          <p:nvPr/>
        </p:nvSpPr>
        <p:spPr>
          <a:xfrm>
            <a:off x="8214170" y="2560320"/>
            <a:ext cx="1127684" cy="274320"/>
          </a:xfrm>
          <a:prstGeom prst="rightArrow">
            <a:avLst/>
          </a:prstGeom>
          <a:solidFill>
            <a:schemeClr val="accent3"/>
          </a:solidFill>
          <a:ln/>
        </p:spPr>
      </p:sp>
      <p:sp>
        <p:nvSpPr>
          <p:cNvPr id="16" name="flow 물가 상승 coin"/>
          <p:cNvSpPr/>
          <p:nvPr/>
        </p:nvSpPr>
        <p:spPr>
          <a:xfrm>
            <a:off x="9524733" y="2103120"/>
            <a:ext cx="1188720" cy="1188720"/>
          </a:xfrm>
          <a:prstGeom prst="ellipse">
            <a:avLst/>
          </a:prstGeom>
          <a:solidFill>
            <a:schemeClr val="accent4"/>
          </a:solidFill>
          <a:ln/>
        </p:spPr>
      </p:sp>
      <p:pic>
        <p:nvPicPr>
          <p:cNvPr id="17" name="flow 물가 상승 icon" descr="flow 물가 상승 아이콘">    </p:cNvPr>
          <p:cNvPicPr>
            <a:picLocks noChangeAspect="1"/>
          </p:cNvPicPr>
          <p:nvPr/>
        </p:nvPicPr>
        <p:blipFill>
          <a:blip r:embed="rId4"/>
          <a:stretch>
            <a:fillRect/>
          </a:stretch>
        </p:blipFill>
        <p:spPr>
          <a:xfrm>
            <a:off x="9833801" y="2412187"/>
            <a:ext cx="570586" cy="570586"/>
          </a:xfrm>
          <a:prstGeom prst="rect">
            <a:avLst/>
          </a:prstGeom>
        </p:spPr>
      </p:pic>
      <p:sp>
        <p:nvSpPr>
          <p:cNvPr id="18" name="flow label 물가 상승"/>
          <p:cNvSpPr txBox="1"/>
          <p:nvPr/>
        </p:nvSpPr>
        <p:spPr>
          <a:xfrm>
            <a:off x="8778011" y="3474720"/>
            <a:ext cx="2682164" cy="548640"/>
          </a:xfrm>
          <a:prstGeom prst="rect">
            <a:avLst/>
          </a:prstGeom>
          <a:noFill/>
          <a:ln/>
        </p:spPr>
        <p:txBody>
          <a:bodyPr wrap="square" lIns="0" tIns="0" rIns="0" bIns="0" rtlCol="0" anchor="ctr"/>
          <a:lstStyle/>
          <a:p>
            <a:pPr algn="ctr" indent="0" marL="0">
              <a:buNone/>
            </a:pPr>
            <a:r>
              <a:rPr lang="en-US" sz="2400" b="1" dirty="0">
                <a:solidFill>
                  <a:schemeClr val="tx1"/>
                </a:solidFill>
              </a:rPr>
              <a:t>물가 상승</a:t>
            </a:r>
            <a:endParaRPr lang="en-US" sz="2400" dirty="0"/>
          </a:p>
        </p:txBody>
      </p:sp>
      <p:sp>
        <p:nvSpPr>
          <p:cNvPr id="19" name="message"/>
          <p:cNvSpPr txBox="1"/>
          <p:nvPr/>
        </p:nvSpPr>
        <p:spPr>
          <a:xfrm>
            <a:off x="731520" y="4526280"/>
            <a:ext cx="10728655" cy="594360"/>
          </a:xfrm>
          <a:prstGeom prst="rect">
            <a:avLst/>
          </a:prstGeom>
          <a:noFill/>
          <a:ln/>
        </p:spPr>
        <p:txBody>
          <a:bodyPr wrap="square" lIns="0" tIns="0" rIns="0" bIns="0" rtlCol="0" anchor="ctr"/>
          <a:lstStyle/>
          <a:p>
            <a:pPr indent="0" marL="0">
              <a:buNone/>
            </a:pPr>
            <a:r>
              <a:rPr lang="en-US" sz="2600" dirty="0">
                <a:solidFill>
                  <a:schemeClr val="tx1"/>
                </a:solidFill>
              </a:rPr>
              <a:t>돈의 가치가 계속 떨어지는 것, 이것이 </a:t>
            </a:r>
            <a:pPr indent="0" marL="0">
              <a:buNone/>
            </a:pPr>
            <a:r>
              <a:rPr lang="en-US" sz="2600" b="1" dirty="0">
                <a:solidFill>
                  <a:schemeClr val="tx1"/>
                </a:solidFill>
              </a:rPr>
              <a:t>인플레이션</a:t>
            </a:r>
            <a:pPr indent="0" marL="0">
              <a:buNone/>
            </a:pPr>
            <a:r>
              <a:rPr lang="en-US" sz="2600" dirty="0">
                <a:solidFill>
                  <a:schemeClr val="tx1"/>
                </a:solidFill>
              </a:rPr>
              <a:t>입니다</a:t>
            </a:r>
            <a:endParaRPr lang="en-US" sz="2600" dirty="0"/>
          </a:p>
        </p:txBody>
      </p:sp>
      <p:sp>
        <p:nvSpPr>
          <p:cNvPr id="20" name="message"/>
          <p:cNvSpPr txBox="1"/>
          <p:nvPr/>
        </p:nvSpPr>
        <p:spPr>
          <a:xfrm>
            <a:off x="731520" y="5212080"/>
            <a:ext cx="10728655" cy="594360"/>
          </a:xfrm>
          <a:prstGeom prst="rect">
            <a:avLst/>
          </a:prstGeom>
          <a:noFill/>
          <a:ln/>
        </p:spPr>
        <p:txBody>
          <a:bodyPr wrap="square" lIns="0" tIns="0" rIns="0" bIns="0" rtlCol="0" anchor="ctr"/>
          <a:lstStyle/>
          <a:p>
            <a:pPr indent="0" marL="0">
              <a:buNone/>
            </a:pPr>
            <a:r>
              <a:rPr lang="en-US" sz="2400" dirty="0">
                <a:solidFill>
                  <a:schemeClr val="accent2"/>
                </a:solidFill>
              </a:rPr>
              <a:t>반대로 돈의 가치가 오르면 더 어둡습니다 (일본의 잃어버린 30년)</a:t>
            </a:r>
            <a:endParaRPr lang="en-US" sz="2400" dirty="0"/>
          </a:p>
        </p:txBody>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932688"/>
            <a:ext cx="10728655" cy="822960"/>
          </a:xfrm>
          <a:prstGeom prst="rect">
            <a:avLst/>
          </a:prstGeom>
          <a:noFill/>
          <a:ln/>
        </p:spPr>
        <p:txBody>
          <a:bodyPr wrap="square" lIns="0" tIns="0" rIns="0" bIns="0" rtlCol="0" anchor="ctr"/>
          <a:lstStyle/>
          <a:p>
            <a:pPr algn="l" indent="0" marL="0">
              <a:buNone/>
            </a:pPr>
            <a:r>
              <a:rPr lang="en-US" sz="3800" b="1" dirty="0">
                <a:solidFill>
                  <a:schemeClr val="tx1"/>
                </a:solidFill>
              </a:rPr>
              <a:t>10억 원이 2억 7천만 원이 됩니다</a:t>
            </a:r>
            <a:endParaRPr lang="en-US" sz="3800" dirty="0"/>
          </a:p>
        </p:txBody>
      </p:sp>
      <p:sp>
        <p:nvSpPr>
          <p:cNvPr id="3" name="section tag"/>
          <p:cNvSpPr/>
          <p:nvPr/>
        </p:nvSpPr>
        <p:spPr>
          <a:xfrm>
            <a:off x="731520" y="457200"/>
            <a:ext cx="1874520" cy="402336"/>
          </a:xfrm>
          <a:prstGeom prst="roundRect">
            <a:avLst>
              <a:gd name="adj" fmla="val 50000"/>
            </a:avLst>
          </a:prstGeom>
          <a:solidFill>
            <a:schemeClr val="accent5"/>
          </a:solidFill>
          <a:ln/>
        </p:spPr>
        <p:txBody>
          <a:bodyPr wrap="square" lIns="0" tIns="0" rIns="0" bIns="0" rtlCol="0" anchor="ctr"/>
          <a:lstStyle/>
          <a:p>
            <a:pPr algn="ctr" indent="0" marL="0">
              <a:buNone/>
            </a:pPr>
            <a:r>
              <a:rPr lang="en-US" sz="1600" b="1" dirty="0">
                <a:solidFill>
                  <a:schemeClr val="tx1"/>
                </a:solidFill>
              </a:rPr>
              <a:t>나. 인플레이션</a:t>
            </a:r>
            <a:endParaRPr lang="en-US" sz="1600" dirty="0"/>
          </a:p>
        </p:txBody>
      </p:sp>
      <p:sp>
        <p:nvSpPr>
          <p:cNvPr id="4" name="message"/>
          <p:cNvSpPr txBox="1"/>
          <p:nvPr/>
        </p:nvSpPr>
        <p:spPr>
          <a:xfrm>
            <a:off x="731520" y="1920240"/>
            <a:ext cx="10728655" cy="594360"/>
          </a:xfrm>
          <a:prstGeom prst="rect">
            <a:avLst/>
          </a:prstGeom>
          <a:noFill/>
          <a:ln/>
        </p:spPr>
        <p:txBody>
          <a:bodyPr wrap="square" lIns="0" tIns="0" rIns="0" bIns="0" rtlCol="0" anchor="ctr"/>
          <a:lstStyle/>
          <a:p>
            <a:pPr indent="0" marL="0">
              <a:buNone/>
            </a:pPr>
            <a:r>
              <a:rPr lang="en-US" sz="2600" dirty="0">
                <a:solidFill>
                  <a:schemeClr val="tx1"/>
                </a:solidFill>
              </a:rPr>
              <a:t>65세에 10억 원, 1년에 2,000만 원씩 23년을 쓰면</a:t>
            </a:r>
            <a:endParaRPr lang="en-US" sz="2600" dirty="0"/>
          </a:p>
        </p:txBody>
      </p:sp>
      <p:sp>
        <p:nvSpPr>
          <p:cNvPr id="5" name="money bar 1"/>
          <p:cNvSpPr/>
          <p:nvPr/>
        </p:nvSpPr>
        <p:spPr>
          <a:xfrm>
            <a:off x="1330909" y="3337560"/>
            <a:ext cx="2377440" cy="2011680"/>
          </a:xfrm>
          <a:prstGeom prst="rect">
            <a:avLst/>
          </a:prstGeom>
          <a:solidFill>
            <a:schemeClr val="tx2"/>
          </a:solidFill>
          <a:ln/>
        </p:spPr>
      </p:sp>
      <p:sp>
        <p:nvSpPr>
          <p:cNvPr id="6" name="money value 1"/>
          <p:cNvSpPr txBox="1"/>
          <p:nvPr/>
        </p:nvSpPr>
        <p:spPr>
          <a:xfrm>
            <a:off x="731520" y="2788920"/>
            <a:ext cx="3576218" cy="502920"/>
          </a:xfrm>
          <a:prstGeom prst="rect">
            <a:avLst/>
          </a:prstGeom>
          <a:noFill/>
          <a:ln/>
        </p:spPr>
        <p:txBody>
          <a:bodyPr wrap="square" lIns="0" tIns="0" rIns="0" bIns="0" rtlCol="0" anchor="b"/>
          <a:lstStyle/>
          <a:p>
            <a:pPr algn="ctr" indent="0" marL="0">
              <a:buNone/>
            </a:pPr>
            <a:r>
              <a:rPr lang="en-US" sz="2800" b="1" dirty="0">
                <a:solidFill>
                  <a:schemeClr val="tx1"/>
                </a:solidFill>
              </a:rPr>
              <a:t>10억 원</a:t>
            </a:r>
            <a:endParaRPr lang="en-US" sz="2800" dirty="0"/>
          </a:p>
        </p:txBody>
      </p:sp>
      <p:sp>
        <p:nvSpPr>
          <p:cNvPr id="7" name="money caption 1"/>
          <p:cNvSpPr txBox="1"/>
          <p:nvPr/>
        </p:nvSpPr>
        <p:spPr>
          <a:xfrm>
            <a:off x="731520" y="5486400"/>
            <a:ext cx="3576218" cy="457200"/>
          </a:xfrm>
          <a:prstGeom prst="rect">
            <a:avLst/>
          </a:prstGeom>
          <a:noFill/>
          <a:ln/>
        </p:spPr>
        <p:txBody>
          <a:bodyPr wrap="square" lIns="0" tIns="0" rIns="0" bIns="0" rtlCol="0" anchor="ctr"/>
          <a:lstStyle/>
          <a:p>
            <a:pPr algn="ctr" indent="0" marL="0">
              <a:buNone/>
            </a:pPr>
            <a:r>
              <a:rPr lang="en-US" sz="2200" dirty="0">
                <a:solidFill>
                  <a:schemeClr val="accent2"/>
                </a:solidFill>
              </a:rPr>
              <a:t>65세에 모은 돈</a:t>
            </a:r>
            <a:endParaRPr lang="en-US" sz="2200" dirty="0"/>
          </a:p>
        </p:txBody>
      </p:sp>
      <p:sp>
        <p:nvSpPr>
          <p:cNvPr id="8" name="money bar 2"/>
          <p:cNvSpPr/>
          <p:nvPr/>
        </p:nvSpPr>
        <p:spPr>
          <a:xfrm>
            <a:off x="4907128" y="4262933"/>
            <a:ext cx="2377440" cy="1086307"/>
          </a:xfrm>
          <a:prstGeom prst="rect">
            <a:avLst/>
          </a:prstGeom>
          <a:solidFill>
            <a:schemeClr val="accent3"/>
          </a:solidFill>
          <a:ln/>
        </p:spPr>
      </p:sp>
      <p:sp>
        <p:nvSpPr>
          <p:cNvPr id="9" name="money value 2"/>
          <p:cNvSpPr txBox="1"/>
          <p:nvPr/>
        </p:nvSpPr>
        <p:spPr>
          <a:xfrm>
            <a:off x="4307738" y="3714293"/>
            <a:ext cx="3576218" cy="502920"/>
          </a:xfrm>
          <a:prstGeom prst="rect">
            <a:avLst/>
          </a:prstGeom>
          <a:noFill/>
          <a:ln/>
        </p:spPr>
        <p:txBody>
          <a:bodyPr wrap="square" lIns="0" tIns="0" rIns="0" bIns="0" rtlCol="0" anchor="b"/>
          <a:lstStyle/>
          <a:p>
            <a:pPr algn="ctr" indent="0" marL="0">
              <a:buNone/>
            </a:pPr>
            <a:r>
              <a:rPr lang="en-US" sz="2800" b="1" dirty="0">
                <a:solidFill>
                  <a:schemeClr val="tx1"/>
                </a:solidFill>
              </a:rPr>
              <a:t>5억 4천만 원</a:t>
            </a:r>
            <a:endParaRPr lang="en-US" sz="2800" dirty="0"/>
          </a:p>
        </p:txBody>
      </p:sp>
      <p:sp>
        <p:nvSpPr>
          <p:cNvPr id="10" name="money caption 2"/>
          <p:cNvSpPr txBox="1"/>
          <p:nvPr/>
        </p:nvSpPr>
        <p:spPr>
          <a:xfrm>
            <a:off x="4307738" y="5486400"/>
            <a:ext cx="3576218" cy="457200"/>
          </a:xfrm>
          <a:prstGeom prst="rect">
            <a:avLst/>
          </a:prstGeom>
          <a:noFill/>
          <a:ln/>
        </p:spPr>
        <p:txBody>
          <a:bodyPr wrap="square" lIns="0" tIns="0" rIns="0" bIns="0" rtlCol="0" anchor="ctr"/>
          <a:lstStyle/>
          <a:p>
            <a:pPr algn="ctr" indent="0" marL="0">
              <a:buNone/>
            </a:pPr>
            <a:r>
              <a:rPr lang="en-US" sz="2200" dirty="0">
                <a:solidFill>
                  <a:schemeClr val="accent2"/>
                </a:solidFill>
              </a:rPr>
              <a:t>89세 통장 잔고</a:t>
            </a:r>
            <a:endParaRPr lang="en-US" sz="2200" dirty="0"/>
          </a:p>
        </p:txBody>
      </p:sp>
      <p:sp>
        <p:nvSpPr>
          <p:cNvPr id="11" name="money bar 3"/>
          <p:cNvSpPr/>
          <p:nvPr/>
        </p:nvSpPr>
        <p:spPr>
          <a:xfrm>
            <a:off x="8483346" y="4806086"/>
            <a:ext cx="2377440" cy="543154"/>
          </a:xfrm>
          <a:prstGeom prst="rect">
            <a:avLst/>
          </a:prstGeom>
          <a:solidFill>
            <a:schemeClr val="accent4"/>
          </a:solidFill>
          <a:ln/>
        </p:spPr>
      </p:sp>
      <p:sp>
        <p:nvSpPr>
          <p:cNvPr id="12" name="money value 3"/>
          <p:cNvSpPr txBox="1"/>
          <p:nvPr/>
        </p:nvSpPr>
        <p:spPr>
          <a:xfrm>
            <a:off x="7883957" y="4257446"/>
            <a:ext cx="3576218" cy="502920"/>
          </a:xfrm>
          <a:prstGeom prst="rect">
            <a:avLst/>
          </a:prstGeom>
          <a:noFill/>
          <a:ln/>
        </p:spPr>
        <p:txBody>
          <a:bodyPr wrap="square" lIns="0" tIns="0" rIns="0" bIns="0" rtlCol="0" anchor="b"/>
          <a:lstStyle/>
          <a:p>
            <a:pPr algn="ctr" indent="0" marL="0">
              <a:buNone/>
            </a:pPr>
            <a:r>
              <a:rPr lang="en-US" sz="2800" b="1" dirty="0">
                <a:solidFill>
                  <a:schemeClr val="accent4"/>
                </a:solidFill>
              </a:rPr>
              <a:t>2억 7천만 원</a:t>
            </a:r>
            <a:endParaRPr lang="en-US" sz="2800" dirty="0"/>
          </a:p>
        </p:txBody>
      </p:sp>
      <p:sp>
        <p:nvSpPr>
          <p:cNvPr id="13" name="money caption 3"/>
          <p:cNvSpPr txBox="1"/>
          <p:nvPr/>
        </p:nvSpPr>
        <p:spPr>
          <a:xfrm>
            <a:off x="7883957" y="5486400"/>
            <a:ext cx="3576218" cy="457200"/>
          </a:xfrm>
          <a:prstGeom prst="rect">
            <a:avLst/>
          </a:prstGeom>
          <a:noFill/>
          <a:ln/>
        </p:spPr>
        <p:txBody>
          <a:bodyPr wrap="square" lIns="0" tIns="0" rIns="0" bIns="0" rtlCol="0" anchor="ctr"/>
          <a:lstStyle/>
          <a:p>
            <a:pPr algn="ctr" indent="0" marL="0">
              <a:buNone/>
            </a:pPr>
            <a:r>
              <a:rPr lang="en-US" sz="2200" dirty="0">
                <a:solidFill>
                  <a:schemeClr val="accent2"/>
                </a:solidFill>
              </a:rPr>
              <a:t>89세 실제 가치</a:t>
            </a:r>
            <a:endParaRPr lang="en-US" sz="2200" dirty="0"/>
          </a:p>
        </p:txBody>
      </p:sp>
      <p:sp>
        <p:nvSpPr>
          <p:cNvPr id="14" name="baseline"/>
          <p:cNvSpPr/>
          <p:nvPr/>
        </p:nvSpPr>
        <p:spPr>
          <a:xfrm>
            <a:off x="731520" y="5349240"/>
            <a:ext cx="10728655" cy="0"/>
          </a:xfrm>
          <a:prstGeom prst="line">
            <a:avLst/>
          </a:prstGeom>
          <a:noFill/>
          <a:ln w="19050">
            <a:solidFill>
              <a:schemeClr val="accent3"/>
            </a:solidFill>
            <a:prstDash val="solid"/>
          </a:ln>
        </p:spPr>
      </p:sp>
      <p:sp>
        <p:nvSpPr>
          <p:cNvPr id="25" name="Slide Number Placeholder 0"/>
          <p:cNvSpPr>
            <a:spLocks noGrp="1"/>
          </p:cNvSpPr>
          <p:nvPr>
            <p:ph type="sldNum" sz="quarter" idx="4294967295"/>
          </p:nvPr>
        </p:nvSpPr>
        <p:spPr>
          <a:xfrm>
            <a:off x="10820095"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losing coin"/>
          <p:cNvSpPr/>
          <p:nvPr/>
        </p:nvSpPr>
        <p:spPr>
          <a:xfrm>
            <a:off x="731520" y="868680"/>
            <a:ext cx="1097280" cy="1097280"/>
          </a:xfrm>
          <a:prstGeom prst="ellipse">
            <a:avLst/>
          </a:prstGeom>
          <a:solidFill>
            <a:schemeClr val="accent1"/>
          </a:solidFill>
          <a:ln/>
        </p:spPr>
      </p:sp>
      <p:pic>
        <p:nvPicPr>
          <p:cNvPr id="3" name="closing icon" descr="closing 아이콘">    </p:cNvPr>
          <p:cNvPicPr>
            <a:picLocks noChangeAspect="1"/>
          </p:cNvPicPr>
          <p:nvPr/>
        </p:nvPicPr>
        <p:blipFill>
          <a:blip r:embed="rId1"/>
          <a:stretch>
            <a:fillRect/>
          </a:stretch>
        </p:blipFill>
        <p:spPr>
          <a:xfrm>
            <a:off x="1016813" y="1153973"/>
            <a:ext cx="526694" cy="526694"/>
          </a:xfrm>
          <a:prstGeom prst="rect">
            <a:avLst/>
          </a:prstGeom>
        </p:spPr>
      </p:pic>
      <p:sp>
        <p:nvSpPr>
          <p:cNvPr id="4" name="Text 0"/>
          <p:cNvSpPr/>
          <p:nvPr>
            <p:ph idx="100" type="title" hasCustomPrompt="1"/>
          </p:nvPr>
        </p:nvSpPr>
        <p:spPr>
          <a:xfrm>
            <a:off x="731520" y="2331720"/>
            <a:ext cx="10728655" cy="1097280"/>
          </a:xfrm>
          <a:prstGeom prst="rect">
            <a:avLst/>
          </a:prstGeom>
          <a:noFill/>
          <a:ln/>
        </p:spPr>
        <p:txBody>
          <a:bodyPr wrap="square" lIns="0" tIns="0" rIns="0" bIns="0" rtlCol="0" anchor="ctr"/>
          <a:lstStyle/>
          <a:p>
            <a:pPr algn="l" indent="0" marL="0">
              <a:buNone/>
            </a:pPr>
            <a:r>
              <a:rPr lang="en-US" sz="4600" b="1" dirty="0">
                <a:solidFill>
                  <a:schemeClr val="bg1"/>
                </a:solidFill>
              </a:rPr>
              <a:t>투자는 선택이 아니라 생존입니다</a:t>
            </a:r>
            <a:endParaRPr lang="en-US" sz="4600" dirty="0"/>
          </a:p>
        </p:txBody>
      </p:sp>
      <p:sp>
        <p:nvSpPr>
          <p:cNvPr id="5" name="Text 0"/>
          <p:cNvSpPr/>
          <p:nvPr>
            <p:ph idx="101" type="body" hasCustomPrompt="1"/>
          </p:nvPr>
        </p:nvSpPr>
        <p:spPr>
          <a:xfrm>
            <a:off x="731520" y="3657600"/>
            <a:ext cx="10728655" cy="1463040"/>
          </a:xfrm>
          <a:prstGeom prst="rect">
            <a:avLst/>
          </a:prstGeom>
          <a:noFill/>
          <a:ln/>
        </p:spPr>
        <p:txBody>
          <a:bodyPr wrap="square" lIns="0" tIns="0" rIns="0" bIns="0" rtlCol="0" anchor="t"/>
          <a:lstStyle/>
          <a:p>
            <a:pPr algn="l" indent="0" marL="0">
              <a:spcAft>
                <a:spcPts val="1200"/>
              </a:spcAft>
              <a:buNone/>
            </a:pPr>
            <a:r>
              <a:rPr lang="en-US" sz="2600" dirty="0">
                <a:solidFill>
                  <a:schemeClr val="accent5"/>
                </a:solidFill>
              </a:rPr>
              <a:t>예전과 달리 이제는 은퇴 뒤에도 55년이 남아 있습니다</a:t>
            </a:r>
            <a:endParaRPr lang="en-US" sz="2600" dirty="0"/>
          </a:p>
          <a:p>
            <a:pPr algn="l" indent="0" marL="0">
              <a:spcAft>
                <a:spcPts val="1200"/>
              </a:spcAft>
              <a:buNone/>
            </a:pPr>
            <a:r>
              <a:rPr lang="en-US" sz="2600" dirty="0">
                <a:solidFill>
                  <a:schemeClr val="accent5"/>
                </a:solidFill>
              </a:rPr>
              <a:t>퇴직하고 나서 시작하면 이미 늦습니다</a:t>
            </a:r>
            <a:endParaRPr lang="en-US" sz="2600" dirty="0"/>
          </a:p>
        </p:txBody>
      </p:sp>
    </p:spTree>
  </p:cSld>
  <p:clrMapOvr>
    <a:masterClrMapping/>
  </p:clrMapOvr>
</p:sld>
</file>

<file path=ppt/theme/theme1.xml><?xml version="1.0" encoding="utf-8"?>
<a:theme xmlns:a="http://schemas.openxmlformats.org/drawingml/2006/main" name="Gold Coin">
  <a:themeElements>
    <a:clrScheme name="Gold Coin">
      <a:dk1>
        <a:srgbClr val="1E2228"/>
      </a:dk1>
      <a:lt1>
        <a:srgbClr val="FFFFFF"/>
      </a:lt1>
      <a:dk2>
        <a:srgbClr val="1F2430"/>
      </a:dk2>
      <a:lt2>
        <a:srgbClr val="F3F4F6"/>
      </a:lt2>
      <a:accent1>
        <a:srgbClr val="F2B33D"/>
      </a:accent1>
      <a:accent2>
        <a:srgbClr val="5F6673"/>
      </a:accent2>
      <a:accent3>
        <a:srgbClr val="A3A9B4"/>
      </a:accent3>
      <a:accent4>
        <a:srgbClr val="D64933"/>
      </a:accent4>
      <a:accent5>
        <a:srgbClr val="FBE7B5"/>
      </a:accent5>
      <a:accent6>
        <a:srgbClr val="3A4150"/>
      </a:accent6>
      <a:hlink>
        <a:srgbClr val="1F2430"/>
      </a:hlink>
      <a:folHlink>
        <a:srgbClr val="5F6673"/>
      </a:folHlink>
    </a:clrScheme>
    <a:fontScheme name="Gold Coin">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투자를 해야 하는 이유</dc:title>
  <dc:subject>투자를 합시다 1편 · 동네 독서 모임 발표</dc:subject>
  <dc:creator>PptxGenJS</dc:creator>
  <cp:lastModifiedBy>PptxGenJS</cp:lastModifiedBy>
  <cp:revision>1</cp:revision>
  <dcterms:created xsi:type="dcterms:W3CDTF">2026-10-06T05:15:52Z</dcterms:created>
  <dcterms:modified xsi:type="dcterms:W3CDTF">2026-10-06T05:15:52Z</dcterms:modified>
</cp:coreProperties>
</file>