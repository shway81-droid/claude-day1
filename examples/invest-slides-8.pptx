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들어가며" id="{cb22fbdd-5a37-b04d-4216-719c881cf07f}">
          <p14:sldIdLst>
            <p14:sldId id="256"/>
            <p14:sldId id="257"/>
          </p14:sldIdLst>
        </p14:section>
        <p14:section name="가. 늘어난 수명" id="{f96e2347-0fa3-6fcf-e593-4e0460821d31}">
          <p14:sldIdLst>
            <p14:sldId id="258"/>
            <p14:sldId id="259"/>
            <p14:sldId id="260"/>
            <p14:sldId id="261"/>
          </p14:sldIdLst>
        </p14:section>
        <p14:section name="나. 인플레이션" id="{321fa166-b5c1-e5b0-0bb6-d1a07df2afe5}">
          <p14:sldIdLst>
            <p14:sldId id="262"/>
          </p14:sldIdLst>
        </p14:section>
        <p14:section name="마무리" id="{4a9a404f-1f13-d417-8308-e101fe44fe12}">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평균수명</c:v>
                </c:pt>
              </c:strCache>
            </c:strRef>
          </c:tx>
          <c:spPr>
            <a:solidFill>
              <a:srgbClr val="A8C9B4"/>
            </a:solidFill>
            <a:effectLst/>
          </c:spPr>
          <c:invertIfNegative val="0"/>
          <c:dLbls>
            <c:numFmt formatCode="General&quot;세&quot;" sourceLinked="0"/>
            <c:txPr>
              <a:bodyPr wrap="none"/>
              <a:lstStyle/>
              <a:p>
                <a:pPr>
                  <a:defRPr b="1" i="0" strike="noStrike" sz="3200" u="none">
                    <a:solidFill>
                      <a:srgbClr val="1B2A24"/>
                    </a:solidFill>
                    <a:latin typeface="+mn-lt"/>
                  </a:defRPr>
                </a:pPr>
              </a:p>
            </c:txPr>
            <c:showLegendKey val="0"/>
            <c:showVal val="1"/>
            <c:showCatName val="0"/>
            <c:showSerName val="0"/>
            <c:showPercent val="0"/>
            <c:showBubbleSize val="0"/>
            <c:showLeaderLines val="0"/>
          </c:dLbls>
          <c:dPt>
            <c:idx val="0"/>
            <c:invertIfNegative val="0"/>
            <c:bubble3D val="0"/>
            <c:spPr>
              <a:solidFill>
                <a:srgbClr val="A8C9B4"/>
              </a:solidFill>
              <a:effectLst/>
            </c:spPr>
          </c:dPt>
          <c:dPt>
            <c:idx val="1"/>
            <c:invertIfNegative val="0"/>
            <c:bubble3D val="0"/>
            <c:spPr>
              <a:solidFill>
                <a:srgbClr val="3E7B5B"/>
              </a:solidFill>
              <a:effectLst/>
            </c:spPr>
          </c:dPt>
          <c:dPt>
            <c:idx val="2"/>
            <c:invertIfNegative val="0"/>
            <c:bubble3D val="0"/>
            <c:spPr>
              <a:solidFill>
                <a:srgbClr val="E3A23B"/>
              </a:solidFill>
              <a:effectLst/>
            </c:spPr>
          </c:dPt>
          <c:cat>
            <c:multiLvlStrRef>
              <c:f>Sheet1!$A$2:$A$4</c:f>
              <c:multiLvlStrCache>
                <c:ptCount val="3"/>
                <c:lvl>
                  <c:pt idx="0">
                    <c:v>1940년대</c:v>
                  </c:pt>
                  <c:pt idx="1">
                    <c:v>2024년 여성</c:v>
                  </c:pt>
                  <c:pt idx="2">
                    <c:v>앞으로</c:v>
                  </c:pt>
                </c:lvl>
              </c:multiLvlStrCache>
            </c:multiLvlStrRef>
          </c:cat>
          <c:val>
            <c:numRef>
              <c:f>Sheet1!$B$2:$B$4</c:f>
              <c:numCache>
                <c:formatCode>General</c:formatCode>
                <c:ptCount val="3"/>
                <c:pt idx="0">
                  <c:v>40</c:v>
                </c:pt>
                <c:pt idx="1">
                  <c:v>90.7</c:v>
                </c:pt>
                <c:pt idx="2">
                  <c:v>120</c:v>
                </c:pt>
              </c:numCache>
            </c:numRef>
          </c:val>
        </c:ser>
        <c:dLbls>
          <c:numFmt formatCode="General&quot;세&quot;" sourceLinked="0"/>
          <c:txPr>
            <a:bodyPr wrap="none"/>
            <a:lstStyle/>
            <a:p>
              <a:pPr>
                <a:defRPr b="1" i="0" strike="noStrike" sz="3200" u="none">
                  <a:solidFill>
                    <a:srgbClr val="1B2A24"/>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2200" b="0" i="0" u="none" strike="noStrike">
                <a:solidFill>
                  <a:srgbClr val="1B2A24"/>
                </a:solidFill>
                <a:latin typeface="+mn-lt"/>
              </a:defRPr>
            </a:pPr>
            <a:endParaRPr lang="en-US"/>
          </a:p>
        </c:txPr>
        <c:crossAx val="2094734552"/>
        <c:crosses val="autoZero"/>
        <c:auto val="1"/>
        <c:lblAlgn val="ctr"/>
        <c:noMultiLvlLbl val="1"/>
      </c:catAx>
      <c:valAx>
        <c:axId val="2094734552"/>
        <c:scaling>
          <c:orientation val="minMax"/>
          <c:max val="14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매달 저축액</c:v>
                </c:pt>
              </c:strCache>
            </c:strRef>
          </c:tx>
          <c:spPr>
            <a:solidFill>
              <a:srgbClr val="E3A23B"/>
            </a:solidFill>
            <a:effectLst/>
          </c:spPr>
          <c:invertIfNegative val="0"/>
          <c:dLbls>
            <c:numFmt formatCode="&quot;월 &quot;#,##0&quot;만 원&quot;" sourceLinked="0"/>
            <c:txPr>
              <a:bodyPr wrap="none"/>
              <a:lstStyle/>
              <a:p>
                <a:pPr>
                  <a:defRPr b="1" i="0" strike="noStrike" sz="3000" u="none">
                    <a:solidFill>
                      <a:srgbClr val="1B2A24"/>
                    </a:solidFill>
                    <a:latin typeface="+mn-lt"/>
                  </a:defRPr>
                </a:pPr>
              </a:p>
            </c:txPr>
            <c:showLegendKey val="0"/>
            <c:showVal val="1"/>
            <c:showCatName val="0"/>
            <c:showSerName val="0"/>
            <c:showPercent val="0"/>
            <c:showBubbleSize val="0"/>
            <c:showLeaderLines val="0"/>
          </c:dLbls>
          <c:dPt>
            <c:idx val="0"/>
            <c:invertIfNegative val="0"/>
            <c:bubble3D val="0"/>
            <c:spPr>
              <a:solidFill>
                <a:srgbClr val="E3A23B"/>
              </a:solidFill>
              <a:effectLst/>
            </c:spPr>
          </c:dPt>
          <c:dPt>
            <c:idx val="1"/>
            <c:invertIfNegative val="0"/>
            <c:bubble3D val="0"/>
            <c:spPr>
              <a:solidFill>
                <a:srgbClr val="B8452F"/>
              </a:solidFill>
              <a:effectLst/>
            </c:spPr>
          </c:dPt>
          <c:cat>
            <c:multiLvlStrRef>
              <c:f>Sheet1!$A$2:$A$3</c:f>
              <c:multiLvlStrCache>
                <c:ptCount val="2"/>
                <c:lvl>
                  <c:pt idx="0">
                    <c:v>투자 연 8%</c:v>
                  </c:pt>
                  <c:pt idx="1">
                    <c:v>예금 연 3%</c:v>
                  </c:pt>
                </c:lvl>
              </c:multiLvlStrCache>
            </c:multiLvlStrRef>
          </c:cat>
          <c:val>
            <c:numRef>
              <c:f>Sheet1!$B$2:$B$3</c:f>
              <c:numCache>
                <c:formatCode>General</c:formatCode>
                <c:ptCount val="2"/>
                <c:pt idx="0">
                  <c:v>36</c:v>
                </c:pt>
                <c:pt idx="1">
                  <c:v>275</c:v>
                </c:pt>
              </c:numCache>
            </c:numRef>
          </c:val>
        </c:ser>
        <c:dLbls>
          <c:numFmt formatCode="&quot;월 &quot;#,##0&quot;만 원&quot;" sourceLinked="0"/>
          <c:txPr>
            <a:bodyPr wrap="none"/>
            <a:lstStyle/>
            <a:p>
              <a:pPr>
                <a:defRPr b="1" i="0" strike="noStrike" sz="3000" u="none">
                  <a:solidFill>
                    <a:srgbClr val="1B2A24"/>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2400" b="1" i="0" u="none" strike="noStrike">
                <a:solidFill>
                  <a:srgbClr val="1B2A24"/>
                </a:solidFill>
                <a:latin typeface="+mn-lt"/>
              </a:defRPr>
            </a:pPr>
            <a:endParaRPr lang="en-US"/>
          </a:p>
        </c:txPr>
        <c:crossAx val="2094734552"/>
        <c:crosses val="autoZero"/>
        <c:auto val="1"/>
        <c:lblAlgn val="ctr"/>
        <c:noMultiLvlLbl val="1"/>
      </c:catAx>
      <c:valAx>
        <c:axId val="2094734552"/>
        <c:scaling>
          <c:orientation val="minMax"/>
          <c:max val="44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오늘은 제가 쓴 글 「투자를 합시다」 1편, 투자를 해야 하는 이유를 5분 동안 나눠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저도 처음에는 투자 이야기를 한 귀로 듣고 한 귀로 흘렸습니다. 먼저 투자를 시작한 선배에게 몇 년 동안 이야기를 들었지만 움직이지 않았습니다. 그러다 2019년, 살 집을 마련하려고 분양권을 산 것이 시작이었습니다. 그 뒤로 부동산, 주식, 경매로 이어졌습니다. 선배와 동료들과 나눈 이야기가 제 투자의 밑거름이 되었고, 이제는 저도 누군가에게 그런 밑거름이 되고 싶습니다.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투자를 해야 하는 첫 번째 이유는 늘어난 수명입니다. 1940년대까지만 해도 평균수명은 40세 정도였습니다. 보험개발원 발표를 보면 2024년 우리나라 여성 보험 가입자의 평균수명은 90.7세로, 처음으로 90세를 넘었습니다. 여러 연구는 앞으로 평균수명이 115세, 많게는 150세까지 늘어난다고 봅니다. 그런데 우리는 80세 이후의 삶을 거의 생각하지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보수적으로 120세까지 산다고 가정해 보겠습니다. 30세까지 배우고, 30세부터 65세까지 35년 동안 일합니다. 그러면 65세부터 120세까지 55년은 일할 때 모은 돈으로 살아야 합니다. 우리나라 노인 빈곤율과 노인 자살률은 OECD에서 가장 높은 수준이고, 가장 큰 이유가 경제적인 어려움입니다. 그래서 은퇴 뒤의 현금흐름을 지금부터 준비해야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얼마를 모아야 할까요? 은퇴 뒤에 한 달에 500만 원, 1년에 6,000만 원이 필요하다고 해 보겠습니다. 모은 돈은 그대로 두고 수익만으로 생활하려면, 연 8% 수익을 낸다고 가정할 때 7억 5천만 원이 필요합니다. 6,000만 원을 0.08로 나눈 값입니다. 하지만 연 3% 예금만 한다면 20억 원이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돈을 30세부터 35년 동안 모은다면 매달 얼마씩 저축해야 할까요? 연 8%로 굴리면 한 달에 36만 원이면 됩니다. 하지만 연 3% 예금이라면 한 달에 275만 원씩 모아야 합니다. 평범한 월급으로는 사실상 어려운 금액입니다. 이 차이를 만드는 것이 아인슈타인이 불가사의라고 했다는 복리의 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이유는 인플레이션입니다. 2000년에 2,742원이던 짜장면이 2022년에는 5,769원이 되었습니다. 나라가 돈을 계속 찍어 내면서 돈의 가치가 떨어지기 때문입니다. 10억 원을 은행에 그대로 두어도, 물가가 두 배로 오르는 23년 뒤에는 실제로 살 수 있는 것이 절반, 5억 원어치로 줄어듭니다. 모아 둔 돈을 나눠 쓰기만 하면 생각보다 빨리 가난해질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수명은 늘어나고 돈의 가치는 줄어듭니다. 그래서 투자 공부는 선택이 아니라 생존의 문제입니다. 퇴직하고 나서 시작하면 이미 늦습니다. 마지막으로 함께 이야기해 보고 싶습니다. 여러분은 80세 이후의 삶을 어떻게 그리고 계신가요? 들어 주셔서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057400"/>
            <a:ext cx="7589520" cy="1371600"/>
          </a:xfrm>
          <a:prstGeom prst="rect">
            <a:avLst/>
          </a:prstGeom>
          <a:noFill/>
          <a:ln/>
        </p:spPr>
        <p:txBody>
          <a:bodyPr wrap="square" rtlCol="0"/>
          <a:lstStyle>
            <a:lvl1pPr algn="l" indent="0" marL="0">
              <a:buNone/>
              <a:defRPr lang="en-US" sz="5600" b="1" dirty="0">
                <a:solidFill>
                  <a:schemeClr val="bg1"/>
                </a:solidFill>
              </a:defRPr>
            </a:lvl1pPr>
          </a:lstStyle>
          <a:p>
            <a:pPr algn="l" indent="0" marL="0">
              <a:buNone/>
            </a:pPr>
            <a:endParaRPr lang="en-US" sz="5600" dirty="0"/>
          </a:p>
        </p:txBody>
      </p:sp>
      <p:sp>
        <p:nvSpPr>
          <p:cNvPr id="3" name="Text 0"/>
          <p:cNvSpPr/>
          <p:nvPr>
            <p:ph idx="101" type="body" hasCustomPrompt="1"/>
          </p:nvPr>
        </p:nvSpPr>
        <p:spPr>
          <a:xfrm>
            <a:off x="822960" y="3611880"/>
            <a:ext cx="7589520" cy="640080"/>
          </a:xfrm>
          <a:prstGeom prst="rect">
            <a:avLst/>
          </a:prstGeom>
          <a:noFill/>
          <a:ln/>
        </p:spPr>
        <p:txBody>
          <a:bodyPr wrap="square" rtlCol="0"/>
          <a:lstStyle>
            <a:lvl1pPr indent="0" marL="0">
              <a:buNone/>
              <a:defRPr lang="en-US" sz="2400" dirty="0">
                <a:solidFill>
                  <a:schemeClr val="accent5"/>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783080" y="502920"/>
            <a:ext cx="9601200" cy="86868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09960"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417320"/>
            <a:ext cx="10545775" cy="11887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822960" y="2788920"/>
            <a:ext cx="10545775" cy="731520"/>
          </a:xfrm>
          <a:prstGeom prst="rect">
            <a:avLst/>
          </a:prstGeom>
          <a:noFill/>
          <a:ln/>
        </p:spPr>
        <p:txBody>
          <a:bodyPr wrap="square" rtlCol="0"/>
          <a:lstStyle>
            <a:lvl1pPr indent="0" marL="0">
              <a:buNone/>
              <a:defRPr lang="en-US" sz="2600" dirty="0">
                <a:solidFill>
                  <a:schemeClr val="accent5"/>
                </a:solidFill>
              </a:defRPr>
            </a:lvl1pPr>
          </a:lstStyle>
          <a:p>
            <a:pPr indent="0" marL="0">
              <a:buNone/>
            </a:pPr>
            <a:endParaRPr lang="en-US" sz="2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3-1.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6-1.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057400"/>
            <a:ext cx="7589520" cy="1371600"/>
          </a:xfrm>
          <a:prstGeom prst="rect">
            <a:avLst/>
          </a:prstGeom>
          <a:noFill/>
          <a:ln/>
        </p:spPr>
        <p:txBody>
          <a:bodyPr wrap="square" lIns="0" tIns="0" rIns="0" bIns="0" rtlCol="0" anchor="b"/>
          <a:lstStyle/>
          <a:p>
            <a:pPr algn="l" indent="0" marL="0">
              <a:buNone/>
            </a:pPr>
            <a:r>
              <a:rPr lang="en-US" sz="5600" b="1" dirty="0">
                <a:solidFill>
                  <a:schemeClr val="bg1"/>
                </a:solidFill>
              </a:rPr>
              <a:t>투자를 해야 하는 이유</a:t>
            </a:r>
            <a:endParaRPr lang="en-US" sz="5600" dirty="0"/>
          </a:p>
        </p:txBody>
      </p:sp>
      <p:sp>
        <p:nvSpPr>
          <p:cNvPr id="3" name="Text 0"/>
          <p:cNvSpPr/>
          <p:nvPr>
            <p:ph idx="101" type="body" hasCustomPrompt="1"/>
          </p:nvPr>
        </p:nvSpPr>
        <p:spPr>
          <a:xfrm>
            <a:off x="822960" y="3611880"/>
            <a:ext cx="7589520" cy="640080"/>
          </a:xfrm>
          <a:prstGeom prst="rect">
            <a:avLst/>
          </a:prstGeom>
          <a:noFill/>
          <a:ln/>
        </p:spPr>
        <p:txBody>
          <a:bodyPr wrap="square" lIns="0" tIns="0" rIns="0" bIns="0" rtlCol="0" anchor="t"/>
          <a:lstStyle/>
          <a:p>
            <a:pPr indent="0" marL="0">
              <a:buNone/>
            </a:pPr>
            <a:r>
              <a:rPr lang="en-US" sz="2400" dirty="0">
                <a:solidFill>
                  <a:schemeClr val="accent5"/>
                </a:solidFill>
              </a:rPr>
              <a:t>투자를 합시다 1편 · 동네 독서 모임</a:t>
            </a:r>
            <a:endParaRPr lang="en-US" sz="2400" dirty="0"/>
          </a:p>
        </p:txBody>
      </p:sp>
      <p:sp>
        <p:nvSpPr>
          <p:cNvPr id="4" name="cover circle"/>
          <p:cNvSpPr/>
          <p:nvPr/>
        </p:nvSpPr>
        <p:spPr>
          <a:xfrm>
            <a:off x="8732520" y="1783080"/>
            <a:ext cx="3108960" cy="3108960"/>
          </a:xfrm>
          <a:prstGeom prst="ellipse">
            <a:avLst/>
          </a:prstGeom>
          <a:solidFill>
            <a:schemeClr val="accent6"/>
          </a:solidFill>
          <a:ln/>
        </p:spPr>
      </p:sp>
      <p:pic>
        <p:nvPicPr>
          <p:cNvPr id="5" name="cover icon" descr="새싹 아이콘">    </p:cNvPr>
          <p:cNvPicPr>
            <a:picLocks noChangeAspect="1"/>
          </p:cNvPicPr>
          <p:nvPr/>
        </p:nvPicPr>
        <p:blipFill>
          <a:blip r:embed="rId1"/>
          <a:stretch>
            <a:fillRect/>
          </a:stretch>
        </p:blipFill>
        <p:spPr>
          <a:xfrm>
            <a:off x="9509760" y="2560320"/>
            <a:ext cx="1554480" cy="15544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1783080" y="502920"/>
            <a:ext cx="9601200" cy="868680"/>
          </a:xfrm>
          <a:prstGeom prst="rect">
            <a:avLst/>
          </a:prstGeom>
          <a:noFill/>
          <a:ln/>
        </p:spPr>
        <p:txBody>
          <a:bodyPr wrap="square" lIns="0" tIns="0" rIns="0" bIns="0" rtlCol="0" anchor="ctr"/>
          <a:lstStyle/>
          <a:p>
            <a:pPr algn="l" indent="0" marL="0">
              <a:buNone/>
            </a:pPr>
            <a:r>
              <a:rPr lang="en-US" sz="4000" b="1" dirty="0">
                <a:solidFill>
                  <a:schemeClr val="tx2"/>
                </a:solidFill>
              </a:rPr>
              <a:t>저도 처음엔 흘려들었습니다</a:t>
            </a:r>
            <a:endParaRPr lang="en-US" sz="4000" dirty="0"/>
          </a:p>
        </p:txBody>
      </p:sp>
      <p:sp>
        <p:nvSpPr>
          <p:cNvPr id="3" name="title icon circle"/>
          <p:cNvSpPr/>
          <p:nvPr/>
        </p:nvSpPr>
        <p:spPr>
          <a:xfrm>
            <a:off x="822960" y="548640"/>
            <a:ext cx="777240" cy="777240"/>
          </a:xfrm>
          <a:prstGeom prst="ellipse">
            <a:avLst/>
          </a:prstGeom>
          <a:solidFill>
            <a:schemeClr val="bg2"/>
          </a:solidFill>
          <a:ln/>
        </p:spPr>
      </p:sp>
      <p:pic>
        <p:nvPicPr>
          <p:cNvPr id="4" name="title icon" descr="책 아이콘">    </p:cNvPr>
          <p:cNvPicPr>
            <a:picLocks noChangeAspect="1"/>
          </p:cNvPicPr>
          <p:nvPr/>
        </p:nvPicPr>
        <p:blipFill>
          <a:blip r:embed="rId1"/>
          <a:stretch>
            <a:fillRect/>
          </a:stretch>
        </p:blipFill>
        <p:spPr>
          <a:xfrm>
            <a:off x="1005840" y="731520"/>
            <a:ext cx="411480" cy="411480"/>
          </a:xfrm>
          <a:prstGeom prst="rect">
            <a:avLst/>
          </a:prstGeom>
        </p:spPr>
      </p:pic>
      <p:sp>
        <p:nvSpPr>
          <p:cNvPr id="5" name="row 1 circle"/>
          <p:cNvSpPr/>
          <p:nvPr/>
        </p:nvSpPr>
        <p:spPr>
          <a:xfrm>
            <a:off x="822960" y="1874520"/>
            <a:ext cx="960120" cy="960120"/>
          </a:xfrm>
          <a:prstGeom prst="ellipse">
            <a:avLst/>
          </a:prstGeom>
          <a:solidFill>
            <a:schemeClr val="bg2"/>
          </a:solidFill>
          <a:ln/>
        </p:spPr>
      </p:sp>
      <p:pic>
        <p:nvPicPr>
          <p:cNvPr id="6" name="row 1 icon" descr="귀 아이콘">    </p:cNvPr>
          <p:cNvPicPr>
            <a:picLocks noChangeAspect="1"/>
          </p:cNvPicPr>
          <p:nvPr/>
        </p:nvPicPr>
        <p:blipFill>
          <a:blip r:embed="rId2"/>
          <a:stretch>
            <a:fillRect/>
          </a:stretch>
        </p:blipFill>
        <p:spPr>
          <a:xfrm>
            <a:off x="1069848" y="2121408"/>
            <a:ext cx="466344" cy="466344"/>
          </a:xfrm>
          <a:prstGeom prst="rect">
            <a:avLst/>
          </a:prstGeom>
        </p:spPr>
      </p:pic>
      <p:sp>
        <p:nvSpPr>
          <p:cNvPr id="7" name="row 1 text"/>
          <p:cNvSpPr txBox="1"/>
          <p:nvPr/>
        </p:nvSpPr>
        <p:spPr>
          <a:xfrm>
            <a:off x="2103120" y="1874520"/>
            <a:ext cx="9235440" cy="960120"/>
          </a:xfrm>
          <a:prstGeom prst="rect">
            <a:avLst/>
          </a:prstGeom>
          <a:noFill/>
          <a:ln/>
        </p:spPr>
        <p:txBody>
          <a:bodyPr wrap="square" lIns="0" tIns="0" rIns="0" bIns="0" rtlCol="0" anchor="ctr"/>
          <a:lstStyle/>
          <a:p>
            <a:pPr indent="0" marL="0">
              <a:buNone/>
            </a:pPr>
            <a:r>
              <a:rPr lang="en-US" sz="2800" dirty="0">
                <a:solidFill>
                  <a:schemeClr val="tx1"/>
                </a:solidFill>
              </a:rPr>
              <a:t>선배의 투자 이야기를 </a:t>
            </a:r>
            <a:pPr indent="0" marL="0">
              <a:buNone/>
            </a:pPr>
            <a:r>
              <a:rPr lang="en-US" sz="2800" b="1" dirty="0">
                <a:solidFill>
                  <a:schemeClr val="tx2"/>
                </a:solidFill>
              </a:rPr>
              <a:t>몇 년간 듣기만</a:t>
            </a:r>
            <a:pPr indent="0" marL="0">
              <a:buNone/>
            </a:pPr>
            <a:r>
              <a:rPr lang="en-US" sz="2800" dirty="0">
                <a:solidFill>
                  <a:schemeClr val="tx1"/>
                </a:solidFill>
              </a:rPr>
              <a:t> 했습니다</a:t>
            </a:r>
            <a:endParaRPr lang="en-US" sz="2800" dirty="0"/>
          </a:p>
        </p:txBody>
      </p:sp>
      <p:sp>
        <p:nvSpPr>
          <p:cNvPr id="8" name="row 2 circle"/>
          <p:cNvSpPr/>
          <p:nvPr/>
        </p:nvSpPr>
        <p:spPr>
          <a:xfrm>
            <a:off x="822960" y="3246120"/>
            <a:ext cx="960120" cy="960120"/>
          </a:xfrm>
          <a:prstGeom prst="ellipse">
            <a:avLst/>
          </a:prstGeom>
          <a:solidFill>
            <a:schemeClr val="bg2"/>
          </a:solidFill>
          <a:ln/>
        </p:spPr>
      </p:sp>
      <p:pic>
        <p:nvPicPr>
          <p:cNvPr id="9" name="row 2 icon" descr="집 아이콘">    </p:cNvPr>
          <p:cNvPicPr>
            <a:picLocks noChangeAspect="1"/>
          </p:cNvPicPr>
          <p:nvPr/>
        </p:nvPicPr>
        <p:blipFill>
          <a:blip r:embed="rId3"/>
          <a:stretch>
            <a:fillRect/>
          </a:stretch>
        </p:blipFill>
        <p:spPr>
          <a:xfrm>
            <a:off x="1069848" y="3493008"/>
            <a:ext cx="466344" cy="466344"/>
          </a:xfrm>
          <a:prstGeom prst="rect">
            <a:avLst/>
          </a:prstGeom>
        </p:spPr>
      </p:pic>
      <p:sp>
        <p:nvSpPr>
          <p:cNvPr id="10" name="row 2 text"/>
          <p:cNvSpPr txBox="1"/>
          <p:nvPr/>
        </p:nvSpPr>
        <p:spPr>
          <a:xfrm>
            <a:off x="2103120" y="3246120"/>
            <a:ext cx="9235440" cy="960120"/>
          </a:xfrm>
          <a:prstGeom prst="rect">
            <a:avLst/>
          </a:prstGeom>
          <a:noFill/>
          <a:ln/>
        </p:spPr>
        <p:txBody>
          <a:bodyPr wrap="square" lIns="0" tIns="0" rIns="0" bIns="0" rtlCol="0" anchor="ctr"/>
          <a:lstStyle/>
          <a:p>
            <a:pPr indent="0" marL="0">
              <a:buNone/>
            </a:pPr>
            <a:r>
              <a:rPr lang="en-US" sz="2800" b="1" dirty="0">
                <a:solidFill>
                  <a:schemeClr val="tx2"/>
                </a:solidFill>
              </a:rPr>
              <a:t>2019년</a:t>
            </a:r>
            <a:pPr indent="0" marL="0">
              <a:buNone/>
            </a:pPr>
            <a:r>
              <a:rPr lang="en-US" sz="2800" dirty="0">
                <a:solidFill>
                  <a:schemeClr val="tx1"/>
                </a:solidFill>
              </a:rPr>
              <a:t>, 살 집 한 채로 투자를 시작했습니다</a:t>
            </a:r>
            <a:endParaRPr lang="en-US" sz="2800" dirty="0"/>
          </a:p>
        </p:txBody>
      </p:sp>
      <p:sp>
        <p:nvSpPr>
          <p:cNvPr id="11" name="row 3 circle"/>
          <p:cNvSpPr/>
          <p:nvPr/>
        </p:nvSpPr>
        <p:spPr>
          <a:xfrm>
            <a:off x="822960" y="4617720"/>
            <a:ext cx="960120" cy="960120"/>
          </a:xfrm>
          <a:prstGeom prst="ellipse">
            <a:avLst/>
          </a:prstGeom>
          <a:solidFill>
            <a:schemeClr val="bg2"/>
          </a:solidFill>
          <a:ln/>
        </p:spPr>
      </p:sp>
      <p:pic>
        <p:nvPicPr>
          <p:cNvPr id="12" name="row 3 icon" descr="새싹 아이콘">    </p:cNvPr>
          <p:cNvPicPr>
            <a:picLocks noChangeAspect="1"/>
          </p:cNvPicPr>
          <p:nvPr/>
        </p:nvPicPr>
        <p:blipFill>
          <a:blip r:embed="rId4"/>
          <a:stretch>
            <a:fillRect/>
          </a:stretch>
        </p:blipFill>
        <p:spPr>
          <a:xfrm>
            <a:off x="1069848" y="4864608"/>
            <a:ext cx="466344" cy="466344"/>
          </a:xfrm>
          <a:prstGeom prst="rect">
            <a:avLst/>
          </a:prstGeom>
        </p:spPr>
      </p:pic>
      <p:sp>
        <p:nvSpPr>
          <p:cNvPr id="13" name="row 3 text"/>
          <p:cNvSpPr txBox="1"/>
          <p:nvPr/>
        </p:nvSpPr>
        <p:spPr>
          <a:xfrm>
            <a:off x="2103120" y="4617720"/>
            <a:ext cx="9235440" cy="960120"/>
          </a:xfrm>
          <a:prstGeom prst="rect">
            <a:avLst/>
          </a:prstGeom>
          <a:noFill/>
          <a:ln/>
        </p:spPr>
        <p:txBody>
          <a:bodyPr wrap="square" lIns="0" tIns="0" rIns="0" bIns="0" rtlCol="0" anchor="ctr"/>
          <a:lstStyle/>
          <a:p>
            <a:pPr indent="0" marL="0">
              <a:buNone/>
            </a:pPr>
            <a:r>
              <a:rPr lang="en-US" sz="2800" dirty="0">
                <a:solidFill>
                  <a:schemeClr val="tx1"/>
                </a:solidFill>
              </a:rPr>
              <a:t>이제는 제가 누군가의 </a:t>
            </a:r>
            <a:pPr indent="0" marL="0">
              <a:buNone/>
            </a:pPr>
            <a:r>
              <a:rPr lang="en-US" sz="2800" b="1" dirty="0">
                <a:solidFill>
                  <a:schemeClr val="tx2"/>
                </a:solidFill>
              </a:rPr>
              <a:t>밑거름</a:t>
            </a:r>
            <a:pPr indent="0" marL="0">
              <a:buNone/>
            </a:pPr>
            <a:r>
              <a:rPr lang="en-US" sz="2800" dirty="0">
                <a:solidFill>
                  <a:schemeClr val="tx1"/>
                </a:solidFill>
              </a:rPr>
              <a:t>이 되고 싶습니다</a:t>
            </a:r>
            <a:endParaRPr lang="en-US" sz="2800" dirty="0"/>
          </a:p>
        </p:txBody>
      </p:sp>
      <p:sp>
        <p:nvSpPr>
          <p:cNvPr id="25" name="Slide Number Placeholder 0"/>
          <p:cNvSpPr>
            <a:spLocks noGrp="1"/>
          </p:cNvSpPr>
          <p:nvPr>
            <p:ph type="sldNum" sz="quarter" idx="4294967295"/>
          </p:nvPr>
        </p:nvSpPr>
        <p:spPr>
          <a:xfrm>
            <a:off x="11109960"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1783080" y="502920"/>
            <a:ext cx="9601200" cy="868680"/>
          </a:xfrm>
          <a:prstGeom prst="rect">
            <a:avLst/>
          </a:prstGeom>
          <a:noFill/>
          <a:ln/>
        </p:spPr>
        <p:txBody>
          <a:bodyPr wrap="square" lIns="0" tIns="0" rIns="0" bIns="0" rtlCol="0" anchor="ctr"/>
          <a:lstStyle/>
          <a:p>
            <a:pPr algn="l" indent="0" marL="0">
              <a:buNone/>
            </a:pPr>
            <a:r>
              <a:rPr lang="en-US" sz="4000" b="1" dirty="0">
                <a:solidFill>
                  <a:schemeClr val="tx2"/>
                </a:solidFill>
              </a:rPr>
              <a:t>120세 시대가 옵니다</a:t>
            </a:r>
            <a:endParaRPr lang="en-US" sz="4000" dirty="0"/>
          </a:p>
        </p:txBody>
      </p:sp>
      <p:sp>
        <p:nvSpPr>
          <p:cNvPr id="3" name="title icon circle"/>
          <p:cNvSpPr/>
          <p:nvPr/>
        </p:nvSpPr>
        <p:spPr>
          <a:xfrm>
            <a:off x="822960" y="548640"/>
            <a:ext cx="777240" cy="777240"/>
          </a:xfrm>
          <a:prstGeom prst="ellipse">
            <a:avLst/>
          </a:prstGeom>
          <a:solidFill>
            <a:schemeClr val="bg2"/>
          </a:solidFill>
          <a:ln/>
        </p:spPr>
      </p:sp>
      <p:pic>
        <p:nvPicPr>
          <p:cNvPr id="4" name="title icon" descr="모래시계 아이콘">    </p:cNvPr>
          <p:cNvPicPr>
            <a:picLocks noChangeAspect="1"/>
          </p:cNvPicPr>
          <p:nvPr/>
        </p:nvPicPr>
        <p:blipFill>
          <a:blip r:embed="rId1"/>
          <a:stretch>
            <a:fillRect/>
          </a:stretch>
        </p:blipFill>
        <p:spPr>
          <a:xfrm>
            <a:off x="1005840" y="731520"/>
            <a:ext cx="411480" cy="411480"/>
          </a:xfrm>
          <a:prstGeom prst="rect">
            <a:avLst/>
          </a:prstGeom>
        </p:spPr>
      </p:pic>
      <p:graphicFrame>
        <p:nvGraphicFramePr>
          <p:cNvPr id="5" name="lifespan chart" descr="평균수명 막대그래프: 1940년대 40세, 2024년 여성 90.7세, 앞으로 120세"/>
          <p:cNvGraphicFramePr/>
          <p:nvPr/>
        </p:nvGraphicFramePr>
        <p:xfrm>
          <a:off x="822960" y="1600200"/>
          <a:ext cx="10545775" cy="3703320"/>
        </p:xfrm>
        <a:graphic xmlns:a="http://schemas.openxmlformats.org/drawingml/2006/main">
          <a:graphicData uri="http://schemas.openxmlformats.org/drawingml/2006/chart">
            <c:chart xmlns:c="http://schemas.openxmlformats.org/drawingml/2006/chart" r:id="rId2"/>
          </a:graphicData>
        </a:graphic>
      </p:graphicFrame>
      <p:sp>
        <p:nvSpPr>
          <p:cNvPr id="6" name="message"/>
          <p:cNvSpPr txBox="1"/>
          <p:nvPr/>
        </p:nvSpPr>
        <p:spPr>
          <a:xfrm>
            <a:off x="822960" y="5486400"/>
            <a:ext cx="10545775" cy="685800"/>
          </a:xfrm>
          <a:prstGeom prst="rect">
            <a:avLst/>
          </a:prstGeom>
          <a:noFill/>
          <a:ln/>
        </p:spPr>
        <p:txBody>
          <a:bodyPr wrap="square" lIns="0" tIns="0" rIns="0" bIns="0" rtlCol="0" anchor="ctr"/>
          <a:lstStyle/>
          <a:p>
            <a:pPr indent="0" marL="0">
              <a:buNone/>
            </a:pPr>
            <a:r>
              <a:rPr lang="en-US" sz="2800" dirty="0">
                <a:solidFill>
                  <a:schemeClr val="tx1"/>
                </a:solidFill>
              </a:rPr>
              <a:t>80세 이후의 삶까지 생각해야 합니다</a:t>
            </a:r>
            <a:endParaRPr lang="en-US" sz="2800" dirty="0"/>
          </a:p>
        </p:txBody>
      </p:sp>
      <p:sp>
        <p:nvSpPr>
          <p:cNvPr id="25" name="Slide Number Placeholder 0"/>
          <p:cNvSpPr>
            <a:spLocks noGrp="1"/>
          </p:cNvSpPr>
          <p:nvPr>
            <p:ph type="sldNum" sz="quarter" idx="4294967295"/>
          </p:nvPr>
        </p:nvSpPr>
        <p:spPr>
          <a:xfrm>
            <a:off x="11109960"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1783080" y="502920"/>
            <a:ext cx="9601200" cy="868680"/>
          </a:xfrm>
          <a:prstGeom prst="rect">
            <a:avLst/>
          </a:prstGeom>
          <a:noFill/>
          <a:ln/>
        </p:spPr>
        <p:txBody>
          <a:bodyPr wrap="square" lIns="0" tIns="0" rIns="0" bIns="0" rtlCol="0" anchor="ctr"/>
          <a:lstStyle/>
          <a:p>
            <a:pPr algn="l" indent="0" marL="0">
              <a:buNone/>
            </a:pPr>
            <a:r>
              <a:rPr lang="en-US" sz="4000" b="1" dirty="0">
                <a:solidFill>
                  <a:schemeClr val="tx2"/>
                </a:solidFill>
              </a:rPr>
              <a:t>35년 벌어서 55년을 삽니다</a:t>
            </a:r>
            <a:endParaRPr lang="en-US" sz="4000" dirty="0"/>
          </a:p>
        </p:txBody>
      </p:sp>
      <p:sp>
        <p:nvSpPr>
          <p:cNvPr id="3" name="title icon circle"/>
          <p:cNvSpPr/>
          <p:nvPr/>
        </p:nvSpPr>
        <p:spPr>
          <a:xfrm>
            <a:off x="822960" y="548640"/>
            <a:ext cx="777240" cy="777240"/>
          </a:xfrm>
          <a:prstGeom prst="ellipse">
            <a:avLst/>
          </a:prstGeom>
          <a:solidFill>
            <a:schemeClr val="bg2"/>
          </a:solidFill>
          <a:ln/>
        </p:spPr>
      </p:sp>
      <p:pic>
        <p:nvPicPr>
          <p:cNvPr id="4" name="title icon" descr="달력 아이콘">    </p:cNvPr>
          <p:cNvPicPr>
            <a:picLocks noChangeAspect="1"/>
          </p:cNvPicPr>
          <p:nvPr/>
        </p:nvPicPr>
        <p:blipFill>
          <a:blip r:embed="rId1"/>
          <a:stretch>
            <a:fillRect/>
          </a:stretch>
        </p:blipFill>
        <p:spPr>
          <a:xfrm>
            <a:off x="1005840" y="731520"/>
            <a:ext cx="411480" cy="411480"/>
          </a:xfrm>
          <a:prstGeom prst="rect">
            <a:avLst/>
          </a:prstGeom>
        </p:spPr>
      </p:pic>
      <p:sp>
        <p:nvSpPr>
          <p:cNvPr id="5" name="timeline 배우는 30년"/>
          <p:cNvSpPr/>
          <p:nvPr/>
        </p:nvSpPr>
        <p:spPr>
          <a:xfrm>
            <a:off x="822960" y="2240280"/>
            <a:ext cx="2590724" cy="1371600"/>
          </a:xfrm>
          <a:prstGeom prst="rect">
            <a:avLst/>
          </a:prstGeom>
          <a:solidFill>
            <a:schemeClr val="bg2"/>
          </a:solidFill>
          <a:ln/>
        </p:spPr>
        <p:txBody>
          <a:bodyPr wrap="square" lIns="0" tIns="0" rIns="0" bIns="0" rtlCol="0" anchor="ctr"/>
          <a:lstStyle/>
          <a:p>
            <a:pPr algn="ctr" indent="0" marL="0">
              <a:buNone/>
            </a:pPr>
            <a:r>
              <a:rPr lang="en-US" sz="2400" b="1" dirty="0">
                <a:solidFill>
                  <a:schemeClr val="tx2"/>
                </a:solidFill>
              </a:rPr>
              <a:t>배우는 30년</a:t>
            </a:r>
            <a:endParaRPr lang="en-US" sz="2400" dirty="0"/>
          </a:p>
        </p:txBody>
      </p:sp>
      <p:sp>
        <p:nvSpPr>
          <p:cNvPr id="6" name="timeline 일하는 35년"/>
          <p:cNvSpPr/>
          <p:nvPr/>
        </p:nvSpPr>
        <p:spPr>
          <a:xfrm>
            <a:off x="3459404" y="2240280"/>
            <a:ext cx="3030131" cy="1371600"/>
          </a:xfrm>
          <a:prstGeom prst="rect">
            <a:avLst/>
          </a:prstGeom>
          <a:solidFill>
            <a:schemeClr val="tx2"/>
          </a:solidFill>
          <a:ln/>
        </p:spPr>
        <p:txBody>
          <a:bodyPr wrap="square" lIns="0" tIns="0" rIns="0" bIns="0" rtlCol="0" anchor="ctr"/>
          <a:lstStyle/>
          <a:p>
            <a:pPr algn="ctr" indent="0" marL="0">
              <a:buNone/>
            </a:pPr>
            <a:r>
              <a:rPr lang="en-US" sz="2400" b="1" dirty="0">
                <a:solidFill>
                  <a:schemeClr val="bg1"/>
                </a:solidFill>
              </a:rPr>
              <a:t>일하는 35년</a:t>
            </a:r>
            <a:endParaRPr lang="en-US" sz="2400" dirty="0"/>
          </a:p>
        </p:txBody>
      </p:sp>
      <p:sp>
        <p:nvSpPr>
          <p:cNvPr id="7" name="timeline 모은 돈으로 사는 55년"/>
          <p:cNvSpPr/>
          <p:nvPr/>
        </p:nvSpPr>
        <p:spPr>
          <a:xfrm>
            <a:off x="6535255" y="2240280"/>
            <a:ext cx="4787760" cy="1371600"/>
          </a:xfrm>
          <a:prstGeom prst="rect">
            <a:avLst/>
          </a:prstGeom>
          <a:solidFill>
            <a:schemeClr val="accent1"/>
          </a:solidFill>
          <a:ln/>
        </p:spPr>
        <p:txBody>
          <a:bodyPr wrap="square" lIns="0" tIns="0" rIns="0" bIns="0" rtlCol="0" anchor="ctr"/>
          <a:lstStyle/>
          <a:p>
            <a:pPr algn="ctr" indent="0" marL="0">
              <a:buNone/>
            </a:pPr>
            <a:r>
              <a:rPr lang="en-US" sz="2400" b="1" dirty="0">
                <a:solidFill>
                  <a:schemeClr val="tx1"/>
                </a:solidFill>
              </a:rPr>
              <a:t>모은 돈으로 사는 55년</a:t>
            </a:r>
            <a:endParaRPr lang="en-US" sz="2400" dirty="0"/>
          </a:p>
        </p:txBody>
      </p:sp>
      <p:sp>
        <p:nvSpPr>
          <p:cNvPr id="8" name="tick 0"/>
          <p:cNvSpPr txBox="1"/>
          <p:nvPr/>
        </p:nvSpPr>
        <p:spPr>
          <a:xfrm>
            <a:off x="822960" y="3749040"/>
            <a:ext cx="1280160" cy="457200"/>
          </a:xfrm>
          <a:prstGeom prst="rect">
            <a:avLst/>
          </a:prstGeom>
          <a:noFill/>
          <a:ln/>
        </p:spPr>
        <p:txBody>
          <a:bodyPr wrap="square" lIns="0" tIns="0" rIns="0" bIns="0" rtlCol="0" anchor="ctr"/>
          <a:lstStyle/>
          <a:p>
            <a:pPr algn="l" indent="0" marL="0">
              <a:buNone/>
            </a:pPr>
            <a:r>
              <a:rPr lang="en-US" sz="2000" dirty="0">
                <a:solidFill>
                  <a:schemeClr val="accent2"/>
                </a:solidFill>
              </a:rPr>
              <a:t>0세</a:t>
            </a:r>
            <a:endParaRPr lang="en-US" sz="2000" dirty="0"/>
          </a:p>
        </p:txBody>
      </p:sp>
      <p:sp>
        <p:nvSpPr>
          <p:cNvPr id="9" name="tick 30"/>
          <p:cNvSpPr txBox="1"/>
          <p:nvPr/>
        </p:nvSpPr>
        <p:spPr>
          <a:xfrm>
            <a:off x="2819324" y="3749040"/>
            <a:ext cx="1280160" cy="457200"/>
          </a:xfrm>
          <a:prstGeom prst="rect">
            <a:avLst/>
          </a:prstGeom>
          <a:noFill/>
          <a:ln/>
        </p:spPr>
        <p:txBody>
          <a:bodyPr wrap="square" lIns="0" tIns="0" rIns="0" bIns="0" rtlCol="0" anchor="ctr"/>
          <a:lstStyle/>
          <a:p>
            <a:pPr algn="ctr" indent="0" marL="0">
              <a:buNone/>
            </a:pPr>
            <a:r>
              <a:rPr lang="en-US" sz="2000" dirty="0">
                <a:solidFill>
                  <a:schemeClr val="accent2"/>
                </a:solidFill>
              </a:rPr>
              <a:t>30세</a:t>
            </a:r>
            <a:endParaRPr lang="en-US" sz="2000" dirty="0"/>
          </a:p>
        </p:txBody>
      </p:sp>
      <p:sp>
        <p:nvSpPr>
          <p:cNvPr id="10" name="tick 65"/>
          <p:cNvSpPr txBox="1"/>
          <p:nvPr/>
        </p:nvSpPr>
        <p:spPr>
          <a:xfrm>
            <a:off x="5895175" y="3749040"/>
            <a:ext cx="1280160" cy="457200"/>
          </a:xfrm>
          <a:prstGeom prst="rect">
            <a:avLst/>
          </a:prstGeom>
          <a:noFill/>
          <a:ln/>
        </p:spPr>
        <p:txBody>
          <a:bodyPr wrap="square" lIns="0" tIns="0" rIns="0" bIns="0" rtlCol="0" anchor="ctr"/>
          <a:lstStyle/>
          <a:p>
            <a:pPr algn="ctr" indent="0" marL="0">
              <a:buNone/>
            </a:pPr>
            <a:r>
              <a:rPr lang="en-US" sz="2000" dirty="0">
                <a:solidFill>
                  <a:schemeClr val="accent2"/>
                </a:solidFill>
              </a:rPr>
              <a:t>65세</a:t>
            </a:r>
            <a:endParaRPr lang="en-US" sz="2000" dirty="0"/>
          </a:p>
        </p:txBody>
      </p:sp>
      <p:sp>
        <p:nvSpPr>
          <p:cNvPr id="11" name="tick 120"/>
          <p:cNvSpPr txBox="1"/>
          <p:nvPr/>
        </p:nvSpPr>
        <p:spPr>
          <a:xfrm>
            <a:off x="10088575" y="3749040"/>
            <a:ext cx="1280160" cy="457200"/>
          </a:xfrm>
          <a:prstGeom prst="rect">
            <a:avLst/>
          </a:prstGeom>
          <a:noFill/>
          <a:ln/>
        </p:spPr>
        <p:txBody>
          <a:bodyPr wrap="square" lIns="0" tIns="0" rIns="0" bIns="0" rtlCol="0" anchor="ctr"/>
          <a:lstStyle/>
          <a:p>
            <a:pPr algn="r" indent="0" marL="0">
              <a:buNone/>
            </a:pPr>
            <a:r>
              <a:rPr lang="en-US" sz="2000" dirty="0">
                <a:solidFill>
                  <a:schemeClr val="accent2"/>
                </a:solidFill>
              </a:rPr>
              <a:t>120세</a:t>
            </a:r>
            <a:endParaRPr lang="en-US" sz="2000" dirty="0"/>
          </a:p>
        </p:txBody>
      </p:sp>
      <p:sp>
        <p:nvSpPr>
          <p:cNvPr id="12" name="message"/>
          <p:cNvSpPr txBox="1"/>
          <p:nvPr/>
        </p:nvSpPr>
        <p:spPr>
          <a:xfrm>
            <a:off x="822960" y="4983480"/>
            <a:ext cx="10545775" cy="685800"/>
          </a:xfrm>
          <a:prstGeom prst="rect">
            <a:avLst/>
          </a:prstGeom>
          <a:noFill/>
          <a:ln/>
        </p:spPr>
        <p:txBody>
          <a:bodyPr wrap="square" lIns="0" tIns="0" rIns="0" bIns="0" rtlCol="0" anchor="ctr"/>
          <a:lstStyle/>
          <a:p>
            <a:pPr indent="0" marL="0">
              <a:buNone/>
            </a:pPr>
            <a:r>
              <a:rPr lang="en-US" sz="2800" dirty="0">
                <a:solidFill>
                  <a:schemeClr val="tx1"/>
                </a:solidFill>
              </a:rPr>
              <a:t>은퇴 뒤 55년의 생활비, 지금부터 준비해야 합니다</a:t>
            </a:r>
            <a:endParaRPr lang="en-US" sz="2800" dirty="0"/>
          </a:p>
        </p:txBody>
      </p:sp>
      <p:sp>
        <p:nvSpPr>
          <p:cNvPr id="25" name="Slide Number Placeholder 0"/>
          <p:cNvSpPr>
            <a:spLocks noGrp="1"/>
          </p:cNvSpPr>
          <p:nvPr>
            <p:ph type="sldNum" sz="quarter" idx="4294967295"/>
          </p:nvPr>
        </p:nvSpPr>
        <p:spPr>
          <a:xfrm>
            <a:off x="11109960"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1783080" y="502920"/>
            <a:ext cx="9601200" cy="868680"/>
          </a:xfrm>
          <a:prstGeom prst="rect">
            <a:avLst/>
          </a:prstGeom>
          <a:noFill/>
          <a:ln/>
        </p:spPr>
        <p:txBody>
          <a:bodyPr wrap="square" lIns="0" tIns="0" rIns="0" bIns="0" rtlCol="0" anchor="ctr"/>
          <a:lstStyle/>
          <a:p>
            <a:pPr algn="l" indent="0" marL="0">
              <a:buNone/>
            </a:pPr>
            <a:r>
              <a:rPr lang="en-US" sz="4000" b="1" dirty="0">
                <a:solidFill>
                  <a:schemeClr val="tx2"/>
                </a:solidFill>
              </a:rPr>
              <a:t>월 500만 원을 쓰려면</a:t>
            </a:r>
            <a:endParaRPr lang="en-US" sz="4000" dirty="0"/>
          </a:p>
        </p:txBody>
      </p:sp>
      <p:sp>
        <p:nvSpPr>
          <p:cNvPr id="3" name="title icon circle"/>
          <p:cNvSpPr/>
          <p:nvPr/>
        </p:nvSpPr>
        <p:spPr>
          <a:xfrm>
            <a:off x="822960" y="548640"/>
            <a:ext cx="777240" cy="777240"/>
          </a:xfrm>
          <a:prstGeom prst="ellipse">
            <a:avLst/>
          </a:prstGeom>
          <a:solidFill>
            <a:schemeClr val="bg2"/>
          </a:solidFill>
          <a:ln/>
        </p:spPr>
      </p:sp>
      <p:pic>
        <p:nvPicPr>
          <p:cNvPr id="4" name="title icon" descr="계산기 아이콘">    </p:cNvPr>
          <p:cNvPicPr>
            <a:picLocks noChangeAspect="1"/>
          </p:cNvPicPr>
          <p:nvPr/>
        </p:nvPicPr>
        <p:blipFill>
          <a:blip r:embed="rId1"/>
          <a:stretch>
            <a:fillRect/>
          </a:stretch>
        </p:blipFill>
        <p:spPr>
          <a:xfrm>
            <a:off x="1005840" y="731520"/>
            <a:ext cx="411480" cy="411480"/>
          </a:xfrm>
          <a:prstGeom prst="rect">
            <a:avLst/>
          </a:prstGeom>
        </p:spPr>
      </p:pic>
      <p:sp>
        <p:nvSpPr>
          <p:cNvPr id="5" name="message"/>
          <p:cNvSpPr txBox="1"/>
          <p:nvPr/>
        </p:nvSpPr>
        <p:spPr>
          <a:xfrm>
            <a:off x="822960" y="1691640"/>
            <a:ext cx="10545775" cy="685800"/>
          </a:xfrm>
          <a:prstGeom prst="rect">
            <a:avLst/>
          </a:prstGeom>
          <a:noFill/>
          <a:ln/>
        </p:spPr>
        <p:txBody>
          <a:bodyPr wrap="square" lIns="0" tIns="0" rIns="0" bIns="0" rtlCol="0" anchor="ctr"/>
          <a:lstStyle/>
          <a:p>
            <a:pPr indent="0" marL="0">
              <a:buNone/>
            </a:pPr>
            <a:r>
              <a:rPr lang="en-US" sz="2800" dirty="0">
                <a:solidFill>
                  <a:schemeClr val="tx1"/>
                </a:solidFill>
              </a:rPr>
              <a:t>수익만으로 1년에 6,000만 원을 받으려면 모아야 할 돈</a:t>
            </a:r>
            <a:endParaRPr lang="en-US" sz="2800" dirty="0"/>
          </a:p>
        </p:txBody>
      </p:sp>
      <p:sp>
        <p:nvSpPr>
          <p:cNvPr id="6" name="card 연 8% 투자 (가정)"/>
          <p:cNvSpPr/>
          <p:nvPr/>
        </p:nvSpPr>
        <p:spPr>
          <a:xfrm>
            <a:off x="822960" y="2606040"/>
            <a:ext cx="5067148" cy="3063240"/>
          </a:xfrm>
          <a:prstGeom prst="roundRect">
            <a:avLst>
              <a:gd name="adj" fmla="val 4478"/>
            </a:avLst>
          </a:prstGeom>
          <a:solidFill>
            <a:schemeClr val="tx2"/>
          </a:solidFill>
          <a:ln/>
        </p:spPr>
      </p:sp>
      <p:sp>
        <p:nvSpPr>
          <p:cNvPr id="7" name="card label 연 8% 투자 (가정)"/>
          <p:cNvSpPr txBox="1"/>
          <p:nvPr/>
        </p:nvSpPr>
        <p:spPr>
          <a:xfrm>
            <a:off x="1234440" y="3017520"/>
            <a:ext cx="4244188" cy="640080"/>
          </a:xfrm>
          <a:prstGeom prst="rect">
            <a:avLst/>
          </a:prstGeom>
          <a:noFill/>
          <a:ln/>
        </p:spPr>
        <p:txBody>
          <a:bodyPr wrap="square" lIns="0" tIns="0" rIns="0" bIns="0" rtlCol="0" anchor="ctr"/>
          <a:lstStyle/>
          <a:p>
            <a:pPr indent="0" marL="0">
              <a:buNone/>
            </a:pPr>
            <a:r>
              <a:rPr lang="en-US" sz="2600" b="1" dirty="0">
                <a:solidFill>
                  <a:schemeClr val="bg2"/>
                </a:solidFill>
              </a:rPr>
              <a:t>연 8% 투자 (가정)</a:t>
            </a:r>
            <a:endParaRPr lang="en-US" sz="2600" dirty="0"/>
          </a:p>
        </p:txBody>
      </p:sp>
      <p:sp>
        <p:nvSpPr>
          <p:cNvPr id="8" name="card value 연 8% 투자 (가정)"/>
          <p:cNvSpPr txBox="1"/>
          <p:nvPr/>
        </p:nvSpPr>
        <p:spPr>
          <a:xfrm>
            <a:off x="1234440" y="3931920"/>
            <a:ext cx="4244188" cy="1188720"/>
          </a:xfrm>
          <a:prstGeom prst="rect">
            <a:avLst/>
          </a:prstGeom>
          <a:noFill/>
          <a:ln/>
        </p:spPr>
        <p:txBody>
          <a:bodyPr wrap="square" lIns="0" tIns="0" rIns="0" bIns="0" rtlCol="0" anchor="ctr"/>
          <a:lstStyle/>
          <a:p>
            <a:pPr indent="0" marL="0">
              <a:buNone/>
            </a:pPr>
            <a:r>
              <a:rPr lang="en-US" sz="5400" b="1" dirty="0">
                <a:solidFill>
                  <a:schemeClr val="accent1"/>
                </a:solidFill>
              </a:rPr>
              <a:t>7억 5천만 원</a:t>
            </a:r>
            <a:endParaRPr lang="en-US" sz="5400" dirty="0"/>
          </a:p>
        </p:txBody>
      </p:sp>
      <p:sp>
        <p:nvSpPr>
          <p:cNvPr id="9" name="card 연 3% 예금"/>
          <p:cNvSpPr/>
          <p:nvPr/>
        </p:nvSpPr>
        <p:spPr>
          <a:xfrm>
            <a:off x="6301588" y="2606040"/>
            <a:ext cx="5067148" cy="3063240"/>
          </a:xfrm>
          <a:prstGeom prst="roundRect">
            <a:avLst>
              <a:gd name="adj" fmla="val 4478"/>
            </a:avLst>
          </a:prstGeom>
          <a:solidFill>
            <a:schemeClr val="bg2"/>
          </a:solidFill>
          <a:ln/>
        </p:spPr>
      </p:sp>
      <p:sp>
        <p:nvSpPr>
          <p:cNvPr id="10" name="card label 연 3% 예금"/>
          <p:cNvSpPr txBox="1"/>
          <p:nvPr/>
        </p:nvSpPr>
        <p:spPr>
          <a:xfrm>
            <a:off x="6713068" y="3017520"/>
            <a:ext cx="4244188" cy="640080"/>
          </a:xfrm>
          <a:prstGeom prst="rect">
            <a:avLst/>
          </a:prstGeom>
          <a:noFill/>
          <a:ln/>
        </p:spPr>
        <p:txBody>
          <a:bodyPr wrap="square" lIns="0" tIns="0" rIns="0" bIns="0" rtlCol="0" anchor="ctr"/>
          <a:lstStyle/>
          <a:p>
            <a:pPr indent="0" marL="0">
              <a:buNone/>
            </a:pPr>
            <a:r>
              <a:rPr lang="en-US" sz="2600" b="1" dirty="0">
                <a:solidFill>
                  <a:schemeClr val="tx2"/>
                </a:solidFill>
              </a:rPr>
              <a:t>연 3% 예금</a:t>
            </a:r>
            <a:endParaRPr lang="en-US" sz="2600" dirty="0"/>
          </a:p>
        </p:txBody>
      </p:sp>
      <p:sp>
        <p:nvSpPr>
          <p:cNvPr id="11" name="card value 연 3% 예금"/>
          <p:cNvSpPr txBox="1"/>
          <p:nvPr/>
        </p:nvSpPr>
        <p:spPr>
          <a:xfrm>
            <a:off x="6713068" y="3931920"/>
            <a:ext cx="4244188" cy="1188720"/>
          </a:xfrm>
          <a:prstGeom prst="rect">
            <a:avLst/>
          </a:prstGeom>
          <a:noFill/>
          <a:ln/>
        </p:spPr>
        <p:txBody>
          <a:bodyPr wrap="square" lIns="0" tIns="0" rIns="0" bIns="0" rtlCol="0" anchor="ctr"/>
          <a:lstStyle/>
          <a:p>
            <a:pPr indent="0" marL="0">
              <a:buNone/>
            </a:pPr>
            <a:r>
              <a:rPr lang="en-US" sz="5400" b="1" dirty="0">
                <a:solidFill>
                  <a:schemeClr val="accent4"/>
                </a:solidFill>
              </a:rPr>
              <a:t>20억 원</a:t>
            </a:r>
            <a:endParaRPr lang="en-US" sz="5400" dirty="0"/>
          </a:p>
        </p:txBody>
      </p:sp>
      <p:sp>
        <p:nvSpPr>
          <p:cNvPr id="25" name="Slide Number Placeholder 0"/>
          <p:cNvSpPr>
            <a:spLocks noGrp="1"/>
          </p:cNvSpPr>
          <p:nvPr>
            <p:ph type="sldNum" sz="quarter" idx="4294967295"/>
          </p:nvPr>
        </p:nvSpPr>
        <p:spPr>
          <a:xfrm>
            <a:off x="11109960"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1783080" y="502920"/>
            <a:ext cx="9601200" cy="868680"/>
          </a:xfrm>
          <a:prstGeom prst="rect">
            <a:avLst/>
          </a:prstGeom>
          <a:noFill/>
          <a:ln/>
        </p:spPr>
        <p:txBody>
          <a:bodyPr wrap="square" lIns="0" tIns="0" rIns="0" bIns="0" rtlCol="0" anchor="ctr"/>
          <a:lstStyle/>
          <a:p>
            <a:pPr algn="l" indent="0" marL="0">
              <a:buNone/>
            </a:pPr>
            <a:r>
              <a:rPr lang="en-US" sz="4000" b="1" dirty="0">
                <a:solidFill>
                  <a:schemeClr val="tx2"/>
                </a:solidFill>
              </a:rPr>
              <a:t>매달 얼마씩 모아야 할까요</a:t>
            </a:r>
            <a:endParaRPr lang="en-US" sz="4000" dirty="0"/>
          </a:p>
        </p:txBody>
      </p:sp>
      <p:sp>
        <p:nvSpPr>
          <p:cNvPr id="3" name="title icon circle"/>
          <p:cNvSpPr/>
          <p:nvPr/>
        </p:nvSpPr>
        <p:spPr>
          <a:xfrm>
            <a:off x="822960" y="548640"/>
            <a:ext cx="777240" cy="777240"/>
          </a:xfrm>
          <a:prstGeom prst="ellipse">
            <a:avLst/>
          </a:prstGeom>
          <a:solidFill>
            <a:schemeClr val="bg2"/>
          </a:solidFill>
          <a:ln/>
        </p:spPr>
      </p:sp>
      <p:pic>
        <p:nvPicPr>
          <p:cNvPr id="4" name="title icon" descr="돼지 저금통 아이콘">    </p:cNvPr>
          <p:cNvPicPr>
            <a:picLocks noChangeAspect="1"/>
          </p:cNvPicPr>
          <p:nvPr/>
        </p:nvPicPr>
        <p:blipFill>
          <a:blip r:embed="rId1"/>
          <a:stretch>
            <a:fillRect/>
          </a:stretch>
        </p:blipFill>
        <p:spPr>
          <a:xfrm>
            <a:off x="1005840" y="731520"/>
            <a:ext cx="411480" cy="411480"/>
          </a:xfrm>
          <a:prstGeom prst="rect">
            <a:avLst/>
          </a:prstGeom>
        </p:spPr>
      </p:pic>
      <p:graphicFrame>
        <p:nvGraphicFramePr>
          <p:cNvPr id="5" name="saving chart" descr="매달 저축액 막대그래프: 연 8% 투자는 월 36만 원, 연 3% 예금은 월 275만 원"/>
          <p:cNvGraphicFramePr/>
          <p:nvPr/>
        </p:nvGraphicFramePr>
        <p:xfrm>
          <a:off x="822960" y="1645920"/>
          <a:ext cx="10545775" cy="3429000"/>
        </p:xfrm>
        <a:graphic xmlns:a="http://schemas.openxmlformats.org/drawingml/2006/main">
          <a:graphicData uri="http://schemas.openxmlformats.org/drawingml/2006/chart">
            <c:chart xmlns:c="http://schemas.openxmlformats.org/drawingml/2006/chart" r:id="rId2"/>
          </a:graphicData>
        </a:graphic>
      </p:graphicFrame>
      <p:sp>
        <p:nvSpPr>
          <p:cNvPr id="6" name="message"/>
          <p:cNvSpPr txBox="1"/>
          <p:nvPr/>
        </p:nvSpPr>
        <p:spPr>
          <a:xfrm>
            <a:off x="822960" y="5394960"/>
            <a:ext cx="10545775" cy="685800"/>
          </a:xfrm>
          <a:prstGeom prst="rect">
            <a:avLst/>
          </a:prstGeom>
          <a:noFill/>
          <a:ln/>
        </p:spPr>
        <p:txBody>
          <a:bodyPr wrap="square" lIns="0" tIns="0" rIns="0" bIns="0" rtlCol="0" anchor="ctr"/>
          <a:lstStyle/>
          <a:p>
            <a:pPr indent="0" marL="0">
              <a:buNone/>
            </a:pPr>
            <a:r>
              <a:rPr lang="en-US" sz="2800" dirty="0">
                <a:solidFill>
                  <a:schemeClr val="tx1"/>
                </a:solidFill>
              </a:rPr>
              <a:t>35년 동안 모으면, 차이를 만드는 건 복리입니다</a:t>
            </a:r>
            <a:endParaRPr lang="en-US" sz="2800" dirty="0"/>
          </a:p>
        </p:txBody>
      </p:sp>
      <p:sp>
        <p:nvSpPr>
          <p:cNvPr id="25" name="Slide Number Placeholder 0"/>
          <p:cNvSpPr>
            <a:spLocks noGrp="1"/>
          </p:cNvSpPr>
          <p:nvPr>
            <p:ph type="sldNum" sz="quarter" idx="4294967295"/>
          </p:nvPr>
        </p:nvSpPr>
        <p:spPr>
          <a:xfrm>
            <a:off x="11109960"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1783080" y="502920"/>
            <a:ext cx="9601200" cy="868680"/>
          </a:xfrm>
          <a:prstGeom prst="rect">
            <a:avLst/>
          </a:prstGeom>
          <a:noFill/>
          <a:ln/>
        </p:spPr>
        <p:txBody>
          <a:bodyPr wrap="square" lIns="0" tIns="0" rIns="0" bIns="0" rtlCol="0" anchor="ctr"/>
          <a:lstStyle/>
          <a:p>
            <a:pPr algn="l" indent="0" marL="0">
              <a:buNone/>
            </a:pPr>
            <a:r>
              <a:rPr lang="en-US" sz="4000" b="1" dirty="0">
                <a:solidFill>
                  <a:schemeClr val="tx2"/>
                </a:solidFill>
              </a:rPr>
              <a:t>가만히 둔 돈은 줄어듭니다</a:t>
            </a:r>
            <a:endParaRPr lang="en-US" sz="4000" dirty="0"/>
          </a:p>
        </p:txBody>
      </p:sp>
      <p:sp>
        <p:nvSpPr>
          <p:cNvPr id="3" name="title icon circle"/>
          <p:cNvSpPr/>
          <p:nvPr/>
        </p:nvSpPr>
        <p:spPr>
          <a:xfrm>
            <a:off x="822960" y="548640"/>
            <a:ext cx="777240" cy="777240"/>
          </a:xfrm>
          <a:prstGeom prst="ellipse">
            <a:avLst/>
          </a:prstGeom>
          <a:solidFill>
            <a:schemeClr val="bg2"/>
          </a:solidFill>
          <a:ln/>
        </p:spPr>
      </p:sp>
      <p:pic>
        <p:nvPicPr>
          <p:cNvPr id="4" name="title icon" descr="오르는 화살표 아이콘">    </p:cNvPr>
          <p:cNvPicPr>
            <a:picLocks noChangeAspect="1"/>
          </p:cNvPicPr>
          <p:nvPr/>
        </p:nvPicPr>
        <p:blipFill>
          <a:blip r:embed="rId1"/>
          <a:stretch>
            <a:fillRect/>
          </a:stretch>
        </p:blipFill>
        <p:spPr>
          <a:xfrm>
            <a:off x="1005840" y="731520"/>
            <a:ext cx="411480" cy="411480"/>
          </a:xfrm>
          <a:prstGeom prst="rect">
            <a:avLst/>
          </a:prstGeom>
        </p:spPr>
      </p:pic>
      <p:sp>
        <p:nvSpPr>
          <p:cNvPr id="5" name="card 짜장면 값 (2000→22년)"/>
          <p:cNvSpPr/>
          <p:nvPr/>
        </p:nvSpPr>
        <p:spPr>
          <a:xfrm>
            <a:off x="822960" y="1783080"/>
            <a:ext cx="5067148" cy="3200400"/>
          </a:xfrm>
          <a:prstGeom prst="roundRect">
            <a:avLst>
              <a:gd name="adj" fmla="val 4286"/>
            </a:avLst>
          </a:prstGeom>
          <a:solidFill>
            <a:schemeClr val="bg2"/>
          </a:solidFill>
          <a:ln/>
        </p:spPr>
      </p:sp>
      <p:sp>
        <p:nvSpPr>
          <p:cNvPr id="6" name="card icon circle 짜장면 값 (2000→22년)"/>
          <p:cNvSpPr/>
          <p:nvPr/>
        </p:nvSpPr>
        <p:spPr>
          <a:xfrm>
            <a:off x="1234440" y="2194560"/>
            <a:ext cx="868680" cy="868680"/>
          </a:xfrm>
          <a:prstGeom prst="ellipse">
            <a:avLst/>
          </a:prstGeom>
          <a:solidFill>
            <a:schemeClr val="bg1"/>
          </a:solidFill>
          <a:ln/>
        </p:spPr>
      </p:sp>
      <p:pic>
        <p:nvPicPr>
          <p:cNvPr id="7" name="card icon 짜장면 값 (2000→22년)" descr="그릇 아이콘">    </p:cNvPr>
          <p:cNvPicPr>
            <a:picLocks noChangeAspect="1"/>
          </p:cNvPicPr>
          <p:nvPr/>
        </p:nvPicPr>
        <p:blipFill>
          <a:blip r:embed="rId2"/>
          <a:stretch>
            <a:fillRect/>
          </a:stretch>
        </p:blipFill>
        <p:spPr>
          <a:xfrm>
            <a:off x="1453896" y="2414016"/>
            <a:ext cx="429768" cy="429768"/>
          </a:xfrm>
          <a:prstGeom prst="rect">
            <a:avLst/>
          </a:prstGeom>
        </p:spPr>
      </p:pic>
      <p:sp>
        <p:nvSpPr>
          <p:cNvPr id="8" name="card label 짜장면 값 (2000→22년)"/>
          <p:cNvSpPr txBox="1"/>
          <p:nvPr/>
        </p:nvSpPr>
        <p:spPr>
          <a:xfrm>
            <a:off x="2286000" y="2194560"/>
            <a:ext cx="3238348" cy="868680"/>
          </a:xfrm>
          <a:prstGeom prst="rect">
            <a:avLst/>
          </a:prstGeom>
          <a:noFill/>
          <a:ln/>
        </p:spPr>
        <p:txBody>
          <a:bodyPr wrap="square" lIns="0" tIns="0" rIns="0" bIns="0" rtlCol="0" anchor="ctr"/>
          <a:lstStyle/>
          <a:p>
            <a:pPr indent="0" marL="0">
              <a:buNone/>
            </a:pPr>
            <a:r>
              <a:rPr lang="en-US" sz="2200" b="1" dirty="0">
                <a:solidFill>
                  <a:schemeClr val="tx2"/>
                </a:solidFill>
              </a:rPr>
              <a:t>짜장면 값 (2000→22년)</a:t>
            </a:r>
            <a:endParaRPr lang="en-US" sz="2200" dirty="0"/>
          </a:p>
        </p:txBody>
      </p:sp>
      <p:sp>
        <p:nvSpPr>
          <p:cNvPr id="9" name="card value 짜장면 값 (2000→22년)"/>
          <p:cNvSpPr txBox="1"/>
          <p:nvPr/>
        </p:nvSpPr>
        <p:spPr>
          <a:xfrm>
            <a:off x="1234440" y="3429000"/>
            <a:ext cx="4244188" cy="1097280"/>
          </a:xfrm>
          <a:prstGeom prst="rect">
            <a:avLst/>
          </a:prstGeom>
          <a:noFill/>
          <a:ln/>
        </p:spPr>
        <p:txBody>
          <a:bodyPr wrap="square" lIns="0" tIns="0" rIns="0" bIns="0" rtlCol="0" anchor="ctr"/>
          <a:lstStyle/>
          <a:p>
            <a:pPr indent="0" marL="0">
              <a:buNone/>
            </a:pPr>
            <a:r>
              <a:rPr lang="en-US" sz="3800" b="1" dirty="0">
                <a:solidFill>
                  <a:schemeClr val="tx1"/>
                </a:solidFill>
              </a:rPr>
              <a:t>2,742 → </a:t>
            </a:r>
            <a:pPr indent="0" marL="0">
              <a:buNone/>
            </a:pPr>
            <a:r>
              <a:rPr lang="en-US" sz="3800" b="1" dirty="0">
                <a:solidFill>
                  <a:schemeClr val="accent4"/>
                </a:solidFill>
              </a:rPr>
              <a:t>5,769원</a:t>
            </a:r>
            <a:endParaRPr lang="en-US" sz="3800" dirty="0"/>
          </a:p>
        </p:txBody>
      </p:sp>
      <p:sp>
        <p:nvSpPr>
          <p:cNvPr id="10" name="card 10억 원, 23년 뒤 가치"/>
          <p:cNvSpPr/>
          <p:nvPr/>
        </p:nvSpPr>
        <p:spPr>
          <a:xfrm>
            <a:off x="6301588" y="1783080"/>
            <a:ext cx="5067148" cy="3200400"/>
          </a:xfrm>
          <a:prstGeom prst="roundRect">
            <a:avLst>
              <a:gd name="adj" fmla="val 4286"/>
            </a:avLst>
          </a:prstGeom>
          <a:solidFill>
            <a:schemeClr val="bg2"/>
          </a:solidFill>
          <a:ln/>
        </p:spPr>
      </p:sp>
      <p:sp>
        <p:nvSpPr>
          <p:cNvPr id="11" name="card icon circle 10억 원, 23년 뒤 가치"/>
          <p:cNvSpPr/>
          <p:nvPr/>
        </p:nvSpPr>
        <p:spPr>
          <a:xfrm>
            <a:off x="6713068" y="2194560"/>
            <a:ext cx="868680" cy="868680"/>
          </a:xfrm>
          <a:prstGeom prst="ellipse">
            <a:avLst/>
          </a:prstGeom>
          <a:solidFill>
            <a:schemeClr val="bg1"/>
          </a:solidFill>
          <a:ln/>
        </p:spPr>
      </p:sp>
      <p:pic>
        <p:nvPicPr>
          <p:cNvPr id="12" name="card icon 10억 원, 23년 뒤 가치" descr="돈 자루 아이콘">    </p:cNvPr>
          <p:cNvPicPr>
            <a:picLocks noChangeAspect="1"/>
          </p:cNvPicPr>
          <p:nvPr/>
        </p:nvPicPr>
        <p:blipFill>
          <a:blip r:embed="rId3"/>
          <a:stretch>
            <a:fillRect/>
          </a:stretch>
        </p:blipFill>
        <p:spPr>
          <a:xfrm>
            <a:off x="6932524" y="2414016"/>
            <a:ext cx="429768" cy="429768"/>
          </a:xfrm>
          <a:prstGeom prst="rect">
            <a:avLst/>
          </a:prstGeom>
        </p:spPr>
      </p:pic>
      <p:sp>
        <p:nvSpPr>
          <p:cNvPr id="13" name="card label 10억 원, 23년 뒤 가치"/>
          <p:cNvSpPr txBox="1"/>
          <p:nvPr/>
        </p:nvSpPr>
        <p:spPr>
          <a:xfrm>
            <a:off x="7764628" y="2194560"/>
            <a:ext cx="3238348" cy="868680"/>
          </a:xfrm>
          <a:prstGeom prst="rect">
            <a:avLst/>
          </a:prstGeom>
          <a:noFill/>
          <a:ln/>
        </p:spPr>
        <p:txBody>
          <a:bodyPr wrap="square" lIns="0" tIns="0" rIns="0" bIns="0" rtlCol="0" anchor="ctr"/>
          <a:lstStyle/>
          <a:p>
            <a:pPr indent="0" marL="0">
              <a:buNone/>
            </a:pPr>
            <a:r>
              <a:rPr lang="en-US" sz="2200" b="1" dirty="0">
                <a:solidFill>
                  <a:schemeClr val="tx2"/>
                </a:solidFill>
              </a:rPr>
              <a:t>10억 원, 23년 뒤 가치</a:t>
            </a:r>
            <a:endParaRPr lang="en-US" sz="2200" dirty="0"/>
          </a:p>
        </p:txBody>
      </p:sp>
      <p:sp>
        <p:nvSpPr>
          <p:cNvPr id="14" name="card value 10억 원, 23년 뒤 가치"/>
          <p:cNvSpPr txBox="1"/>
          <p:nvPr/>
        </p:nvSpPr>
        <p:spPr>
          <a:xfrm>
            <a:off x="6713068" y="3429000"/>
            <a:ext cx="4244188" cy="1097280"/>
          </a:xfrm>
          <a:prstGeom prst="rect">
            <a:avLst/>
          </a:prstGeom>
          <a:noFill/>
          <a:ln/>
        </p:spPr>
        <p:txBody>
          <a:bodyPr wrap="square" lIns="0" tIns="0" rIns="0" bIns="0" rtlCol="0" anchor="ctr"/>
          <a:lstStyle/>
          <a:p>
            <a:pPr indent="0" marL="0">
              <a:buNone/>
            </a:pPr>
            <a:r>
              <a:rPr lang="en-US" sz="3800" b="1" dirty="0">
                <a:solidFill>
                  <a:schemeClr val="tx1"/>
                </a:solidFill>
              </a:rPr>
              <a:t>10억 → </a:t>
            </a:r>
            <a:pPr indent="0" marL="0">
              <a:buNone/>
            </a:pPr>
            <a:r>
              <a:rPr lang="en-US" sz="3800" b="1" dirty="0">
                <a:solidFill>
                  <a:schemeClr val="accent4"/>
                </a:solidFill>
              </a:rPr>
              <a:t>5억</a:t>
            </a:r>
            <a:endParaRPr lang="en-US" sz="3800" dirty="0"/>
          </a:p>
        </p:txBody>
      </p:sp>
      <p:sp>
        <p:nvSpPr>
          <p:cNvPr id="15" name="message"/>
          <p:cNvSpPr txBox="1"/>
          <p:nvPr/>
        </p:nvSpPr>
        <p:spPr>
          <a:xfrm>
            <a:off x="822960" y="5394960"/>
            <a:ext cx="10545775" cy="685800"/>
          </a:xfrm>
          <a:prstGeom prst="rect">
            <a:avLst/>
          </a:prstGeom>
          <a:noFill/>
          <a:ln/>
        </p:spPr>
        <p:txBody>
          <a:bodyPr wrap="square" lIns="0" tIns="0" rIns="0" bIns="0" rtlCol="0" anchor="ctr"/>
          <a:lstStyle/>
          <a:p>
            <a:pPr indent="0" marL="0">
              <a:buNone/>
            </a:pPr>
            <a:r>
              <a:rPr lang="en-US" sz="2800" dirty="0">
                <a:solidFill>
                  <a:schemeClr val="tx1"/>
                </a:solidFill>
              </a:rPr>
              <a:t>물가가 오르면 같은 돈으로 살 수 있는 것이 줄어듭니다</a:t>
            </a:r>
            <a:endParaRPr lang="en-US" sz="2800" dirty="0"/>
          </a:p>
        </p:txBody>
      </p:sp>
      <p:sp>
        <p:nvSpPr>
          <p:cNvPr id="25" name="Slide Number Placeholder 0"/>
          <p:cNvSpPr>
            <a:spLocks noGrp="1"/>
          </p:cNvSpPr>
          <p:nvPr>
            <p:ph type="sldNum" sz="quarter" idx="4294967295"/>
          </p:nvPr>
        </p:nvSpPr>
        <p:spPr>
          <a:xfrm>
            <a:off x="11109960" y="6355080"/>
            <a:ext cx="64008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822960" y="1417320"/>
            <a:ext cx="10545775" cy="1188720"/>
          </a:xfrm>
          <a:prstGeom prst="rect">
            <a:avLst/>
          </a:prstGeom>
          <a:noFill/>
          <a:ln/>
        </p:spPr>
        <p:txBody>
          <a:bodyPr wrap="square" lIns="0" tIns="0" rIns="0" bIns="0" rtlCol="0" anchor="b"/>
          <a:lstStyle/>
          <a:p>
            <a:pPr algn="l" indent="0" marL="0">
              <a:buNone/>
            </a:pPr>
            <a:r>
              <a:rPr lang="en-US" sz="4400" b="1" dirty="0">
                <a:solidFill>
                  <a:schemeClr val="bg1"/>
                </a:solidFill>
              </a:rPr>
              <a:t>투자는 선택이 아니라 생존입니다</a:t>
            </a:r>
            <a:endParaRPr lang="en-US" sz="4400" dirty="0"/>
          </a:p>
        </p:txBody>
      </p:sp>
      <p:sp>
        <p:nvSpPr>
          <p:cNvPr id="3" name="Text 0"/>
          <p:cNvSpPr/>
          <p:nvPr>
            <p:ph idx="101" type="body" hasCustomPrompt="1"/>
          </p:nvPr>
        </p:nvSpPr>
        <p:spPr>
          <a:xfrm>
            <a:off x="822960" y="2788920"/>
            <a:ext cx="10545775" cy="731520"/>
          </a:xfrm>
          <a:prstGeom prst="rect">
            <a:avLst/>
          </a:prstGeom>
          <a:noFill/>
          <a:ln/>
        </p:spPr>
        <p:txBody>
          <a:bodyPr wrap="square" lIns="0" tIns="0" rIns="0" bIns="0" rtlCol="0" anchor="t"/>
          <a:lstStyle/>
          <a:p>
            <a:pPr indent="0" marL="0">
              <a:buNone/>
            </a:pPr>
            <a:r>
              <a:rPr lang="en-US" sz="2600" dirty="0">
                <a:solidFill>
                  <a:schemeClr val="accent5"/>
                </a:solidFill>
              </a:rPr>
              <a:t>늘어난 수명과 오르는 물가, 지금부터 준비합시다</a:t>
            </a:r>
            <a:endParaRPr lang="en-US" sz="2600" dirty="0"/>
          </a:p>
        </p:txBody>
      </p:sp>
      <p:sp>
        <p:nvSpPr>
          <p:cNvPr id="4" name="question card"/>
          <p:cNvSpPr/>
          <p:nvPr/>
        </p:nvSpPr>
        <p:spPr>
          <a:xfrm>
            <a:off x="822960" y="4069080"/>
            <a:ext cx="10545775" cy="1325880"/>
          </a:xfrm>
          <a:prstGeom prst="roundRect">
            <a:avLst>
              <a:gd name="adj" fmla="val 10345"/>
            </a:avLst>
          </a:prstGeom>
          <a:solidFill>
            <a:schemeClr val="accent1"/>
          </a:solidFill>
          <a:ln/>
        </p:spPr>
      </p:sp>
      <p:sp>
        <p:nvSpPr>
          <p:cNvPr id="5" name="question icon circle"/>
          <p:cNvSpPr/>
          <p:nvPr/>
        </p:nvSpPr>
        <p:spPr>
          <a:xfrm>
            <a:off x="1188720" y="4297680"/>
            <a:ext cx="868680" cy="868680"/>
          </a:xfrm>
          <a:prstGeom prst="ellipse">
            <a:avLst/>
          </a:prstGeom>
          <a:solidFill>
            <a:schemeClr val="tx2"/>
          </a:solidFill>
          <a:ln/>
        </p:spPr>
      </p:sp>
      <p:pic>
        <p:nvPicPr>
          <p:cNvPr id="6" name="question icon" descr="대화 아이콘">    </p:cNvPr>
          <p:cNvPicPr>
            <a:picLocks noChangeAspect="1"/>
          </p:cNvPicPr>
          <p:nvPr/>
        </p:nvPicPr>
        <p:blipFill>
          <a:blip r:embed="rId1"/>
          <a:stretch>
            <a:fillRect/>
          </a:stretch>
        </p:blipFill>
        <p:spPr>
          <a:xfrm>
            <a:off x="1403604" y="4512564"/>
            <a:ext cx="438912" cy="438912"/>
          </a:xfrm>
          <a:prstGeom prst="rect">
            <a:avLst/>
          </a:prstGeom>
        </p:spPr>
      </p:pic>
      <p:sp>
        <p:nvSpPr>
          <p:cNvPr id="7" name="question"/>
          <p:cNvSpPr txBox="1"/>
          <p:nvPr/>
        </p:nvSpPr>
        <p:spPr>
          <a:xfrm>
            <a:off x="2331720" y="4069080"/>
            <a:ext cx="8716975" cy="1325880"/>
          </a:xfrm>
          <a:prstGeom prst="rect">
            <a:avLst/>
          </a:prstGeom>
          <a:noFill/>
          <a:ln/>
        </p:spPr>
        <p:txBody>
          <a:bodyPr wrap="square" lIns="0" tIns="0" rIns="0" bIns="0" rtlCol="0" anchor="ctr"/>
          <a:lstStyle/>
          <a:p>
            <a:pPr indent="0" marL="0">
              <a:buNone/>
            </a:pPr>
            <a:r>
              <a:rPr lang="en-US" sz="2800" b="1" dirty="0">
                <a:solidFill>
                  <a:schemeClr val="tx1"/>
                </a:solidFill>
              </a:rPr>
              <a:t>여러분의 80세 이후는 어떤 모습인가요?</a:t>
            </a:r>
            <a:endParaRPr lang="en-US" sz="2800" dirty="0"/>
          </a:p>
        </p:txBody>
      </p:sp>
    </p:spTree>
  </p:cSld>
  <p:clrMapOvr>
    <a:masterClrMapping/>
  </p:clrMapOvr>
</p:sld>
</file>

<file path=ppt/theme/theme1.xml><?xml version="1.0" encoding="utf-8"?>
<a:theme xmlns:a="http://schemas.openxmlformats.org/drawingml/2006/main" name="Invest Forest">
  <a:themeElements>
    <a:clrScheme name="Invest Forest">
      <a:dk1>
        <a:srgbClr val="1B2A24"/>
      </a:dk1>
      <a:lt1>
        <a:srgbClr val="FFFFFF"/>
      </a:lt1>
      <a:dk2>
        <a:srgbClr val="1F4D3A"/>
      </a:dk2>
      <a:lt2>
        <a:srgbClr val="EEF4EF"/>
      </a:lt2>
      <a:accent1>
        <a:srgbClr val="E3A23B"/>
      </a:accent1>
      <a:accent2>
        <a:srgbClr val="6B7C74"/>
      </a:accent2>
      <a:accent3>
        <a:srgbClr val="3E7B5B"/>
      </a:accent3>
      <a:accent4>
        <a:srgbClr val="B8452F"/>
      </a:accent4>
      <a:accent5>
        <a:srgbClr val="A8C9B4"/>
      </a:accent5>
      <a:accent6>
        <a:srgbClr val="2D6A4F"/>
      </a:accent6>
      <a:hlink>
        <a:srgbClr val="1F4D3A"/>
      </a:hlink>
      <a:folHlink>
        <a:srgbClr val="6B7C74"/>
      </a:folHlink>
    </a:clrScheme>
    <a:fontScheme name="Invest Forest">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투자를 해야 하는 이유</dc:title>
  <dc:subject>투자를 합시다 1편 · 동네 독서 모임 발표</dc:subject>
  <dc:creator>PptxGenJS</dc:creator>
  <cp:lastModifiedBy>PptxGenJS</cp:lastModifiedBy>
  <cp:revision>1</cp:revision>
  <dcterms:created xsi:type="dcterms:W3CDTF">2026-10-06T05:02:24Z</dcterms:created>
  <dcterms:modified xsi:type="dcterms:W3CDTF">2026-10-06T05:02:24Z</dcterms:modified>
</cp:coreProperties>
</file>